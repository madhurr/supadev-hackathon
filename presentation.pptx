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Roboto ExtraBold"/>
      <p:bold r:id="rId15"/>
      <p:boldItalic r:id="rId16"/>
    </p:embeddedFont>
    <p:embeddedFont>
      <p:font typeface="Roboto"/>
      <p:regular r:id="rId17"/>
      <p:bold r:id="rId18"/>
      <p:italic r:id="rId19"/>
      <p:boldItalic r:id="rId20"/>
    </p:embeddedFont>
    <p:embeddedFont>
      <p:font typeface="Roboto Medium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Italic.fntdata"/><Relationship Id="rId11" Type="http://schemas.openxmlformats.org/officeDocument/2006/relationships/slide" Target="slides/slide6.xml"/><Relationship Id="rId22" Type="http://schemas.openxmlformats.org/officeDocument/2006/relationships/font" Target="fonts/RobotoMedium-bold.fntdata"/><Relationship Id="rId10" Type="http://schemas.openxmlformats.org/officeDocument/2006/relationships/slide" Target="slides/slide5.xml"/><Relationship Id="rId21" Type="http://schemas.openxmlformats.org/officeDocument/2006/relationships/font" Target="fonts/RobotoMedium-regular.fntdata"/><Relationship Id="rId13" Type="http://schemas.openxmlformats.org/officeDocument/2006/relationships/slide" Target="slides/slide8.xml"/><Relationship Id="rId24" Type="http://schemas.openxmlformats.org/officeDocument/2006/relationships/font" Target="fonts/RobotoMedium-boldItalic.fntdata"/><Relationship Id="rId12" Type="http://schemas.openxmlformats.org/officeDocument/2006/relationships/slide" Target="slides/slide7.xml"/><Relationship Id="rId23" Type="http://schemas.openxmlformats.org/officeDocument/2006/relationships/font" Target="fonts/RobotoMedium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ExtraBold-bold.fntdata"/><Relationship Id="rId14" Type="http://schemas.openxmlformats.org/officeDocument/2006/relationships/slide" Target="slides/slide9.xml"/><Relationship Id="rId17" Type="http://schemas.openxmlformats.org/officeDocument/2006/relationships/font" Target="fonts/Roboto-regular.fntdata"/><Relationship Id="rId16" Type="http://schemas.openxmlformats.org/officeDocument/2006/relationships/font" Target="fonts/RobotoExtraBold-bold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Roboto-italic.fntdata"/><Relationship Id="rId6" Type="http://schemas.openxmlformats.org/officeDocument/2006/relationships/slide" Target="slides/slide1.xml"/><Relationship Id="rId18" Type="http://schemas.openxmlformats.org/officeDocument/2006/relationships/font" Target="fonts/Robo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c8430210fb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c8430210fb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8430210fb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8430210f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8430210fb_0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8430210fb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5" Type="http://schemas.openxmlformats.org/officeDocument/2006/relationships/image" Target="../media/image13.png"/><Relationship Id="rId6" Type="http://schemas.openxmlformats.org/officeDocument/2006/relationships/image" Target="../media/image3.png"/><Relationship Id="rId7" Type="http://schemas.openxmlformats.org/officeDocument/2006/relationships/image" Target="../media/image5.png"/><Relationship Id="rId8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0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15.png"/><Relationship Id="rId9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8.png"/><Relationship Id="rId7" Type="http://schemas.openxmlformats.org/officeDocument/2006/relationships/image" Target="../media/image14.png"/><Relationship Id="rId8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5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9" Type="http://schemas.openxmlformats.org/officeDocument/2006/relationships/image" Target="../media/image19.png"/><Relationship Id="rId5" Type="http://schemas.openxmlformats.org/officeDocument/2006/relationships/image" Target="../media/image11.png"/><Relationship Id="rId6" Type="http://schemas.openxmlformats.org/officeDocument/2006/relationships/image" Target="../media/image23.png"/><Relationship Id="rId7" Type="http://schemas.openxmlformats.org/officeDocument/2006/relationships/image" Target="../media/image18.png"/><Relationship Id="rId8" Type="http://schemas.openxmlformats.org/officeDocument/2006/relationships/image" Target="../media/image2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7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F2E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953000"/>
            <a:ext cx="12192000" cy="19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47987" y="4448175"/>
            <a:ext cx="104013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AAB7B8"/>
                </a:solidFill>
                <a:latin typeface="Roboto"/>
                <a:ea typeface="Roboto"/>
                <a:cs typeface="Roboto"/>
                <a:sym typeface="Roboto"/>
              </a:rPr>
              <a:t>TEAM NAME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947987" y="4695825"/>
            <a:ext cx="990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SupaDev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4738687" y="4448175"/>
            <a:ext cx="2390298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AAB7B8"/>
                </a:solidFill>
                <a:latin typeface="Roboto"/>
                <a:ea typeface="Roboto"/>
                <a:cs typeface="Roboto"/>
                <a:sym typeface="Roboto"/>
              </a:rPr>
              <a:t>PROBLEM STATEMENT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4738687" y="4695825"/>
            <a:ext cx="2276475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Tool Fragmentation &amp;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8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Accessibility in Bharat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7815262" y="4448175"/>
            <a:ext cx="174021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AAB7B8"/>
                </a:solidFill>
                <a:latin typeface="Roboto"/>
                <a:ea typeface="Roboto"/>
                <a:cs typeface="Roboto"/>
                <a:sym typeface="Roboto"/>
              </a:rPr>
              <a:t>TEAM LEADER NAME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7815262" y="4695825"/>
            <a:ext cx="1657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MADHUR JAIN</a:t>
            </a:r>
            <a:endParaRPr b="1" sz="18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571500" y="381000"/>
            <a:ext cx="41338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Innovation partner </a:t>
            </a:r>
            <a:r>
              <a:rPr b="1" i="0" lang="en-US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H2S</a:t>
            </a:r>
            <a:r>
              <a:rPr b="0" i="0" lang="en-US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Media partner </a:t>
            </a:r>
            <a:r>
              <a:rPr b="1" i="0" lang="en-US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YOURSTORY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9134475" y="381000"/>
            <a:ext cx="24860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AI for Bharat Hackathon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3810714" y="1152525"/>
            <a:ext cx="4570571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AI for Bharat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60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Hackathon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3810714" y="3133725"/>
            <a:ext cx="4570571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Powered by </a:t>
            </a:r>
            <a:r>
              <a:rPr b="0" i="0" lang="en-US" sz="2400" u="none" cap="none" strike="noStrike">
                <a:solidFill>
                  <a:srgbClr val="FFFFFF"/>
                </a:solidFill>
                <a:latin typeface="Roboto ExtraBold"/>
                <a:ea typeface="Roboto ExtraBold"/>
                <a:cs typeface="Roboto ExtraBold"/>
                <a:sym typeface="Roboto ExtraBold"/>
              </a:rPr>
              <a:t>aws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9" name="Google Shape;9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4125" y="5238750"/>
            <a:ext cx="5286375" cy="561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4"/>
          <p:cNvSpPr txBox="1"/>
          <p:nvPr/>
        </p:nvSpPr>
        <p:spPr>
          <a:xfrm>
            <a:off x="571500" y="952500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Brief about the Idea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9324975" y="242887"/>
            <a:ext cx="24860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AI for Bharat Hackathon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381000" y="300037"/>
            <a:ext cx="70485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Roboto Medium"/>
                <a:ea typeface="Roboto Medium"/>
                <a:cs typeface="Roboto Medium"/>
                <a:sym typeface="Roboto Medium"/>
              </a:rPr>
              <a:t>Powered by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1276350" y="242887"/>
            <a:ext cx="432196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32F3E"/>
                </a:solidFill>
                <a:latin typeface="Arial"/>
                <a:ea typeface="Arial"/>
                <a:cs typeface="Arial"/>
                <a:sym typeface="Arial"/>
              </a:rPr>
              <a:t>aws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2089546" y="300037"/>
            <a:ext cx="1419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Roboto Medium"/>
                <a:ea typeface="Roboto Medium"/>
                <a:cs typeface="Roboto Medium"/>
                <a:sym typeface="Roboto Medium"/>
              </a:rPr>
              <a:t>Innovation partner </a:t>
            </a:r>
            <a:r>
              <a:rPr b="1" i="0" lang="en-US" sz="1050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H2S</a:t>
            </a:r>
            <a:endParaRPr/>
          </a:p>
        </p:txBody>
      </p:sp>
      <p:sp>
        <p:nvSpPr>
          <p:cNvPr id="106" name="Google Shape;106;p14"/>
          <p:cNvSpPr/>
          <p:nvPr/>
        </p:nvSpPr>
        <p:spPr>
          <a:xfrm>
            <a:off x="1946671" y="300037"/>
            <a:ext cx="9525" cy="152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3889771" y="300037"/>
            <a:ext cx="16859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Roboto Medium"/>
                <a:ea typeface="Roboto Medium"/>
                <a:cs typeface="Roboto Medium"/>
                <a:sym typeface="Roboto Medium"/>
              </a:rPr>
              <a:t>Media partner </a:t>
            </a:r>
            <a:r>
              <a:rPr b="1" i="0" lang="en-US" sz="1050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YOURSTORY</a:t>
            </a:r>
            <a:endParaRPr/>
          </a:p>
        </p:txBody>
      </p:sp>
      <p:sp>
        <p:nvSpPr>
          <p:cNvPr id="108" name="Google Shape;108;p14"/>
          <p:cNvSpPr/>
          <p:nvPr/>
        </p:nvSpPr>
        <p:spPr>
          <a:xfrm>
            <a:off x="3746896" y="300037"/>
            <a:ext cx="9525" cy="152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4"/>
          <p:cNvSpPr/>
          <p:nvPr/>
        </p:nvSpPr>
        <p:spPr>
          <a:xfrm>
            <a:off x="1276350" y="361950"/>
            <a:ext cx="432196" cy="28575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571500" y="2590800"/>
            <a:ext cx="5550693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17A00"/>
                </a:solidFill>
                <a:latin typeface="Roboto"/>
                <a:ea typeface="Roboto"/>
                <a:cs typeface="Roboto"/>
                <a:sym typeface="Roboto"/>
              </a:rPr>
              <a:t>The Core Concept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571500" y="2952750"/>
            <a:ext cx="5286375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SupaDev</a:t>
            </a:r>
            <a:r>
              <a:rPr b="0" i="0" lang="en-US" sz="1500" u="none" cap="none" strike="noStrike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 is an AI-powered Agentic IDE designed specifically for Bharat's developers. It operates offline-first, ensuring privacy and accessibility even with poor internet connectivity in Tier 2/3 cities.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571500" y="4362450"/>
            <a:ext cx="5550693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17A00"/>
                </a:solidFill>
                <a:latin typeface="Roboto"/>
                <a:ea typeface="Roboto"/>
                <a:cs typeface="Roboto"/>
                <a:sym typeface="Roboto"/>
              </a:rPr>
              <a:t>How is it different?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571500" y="4724400"/>
            <a:ext cx="52863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Unlike standard autocomplete tools (e.g., Copilot), SupaDev features autonomous agents that Research, Architect, Code, and QA. It is a full IDE replacement, not just a plugin.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6334125" y="2571750"/>
            <a:ext cx="5550693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17A00"/>
                </a:solidFill>
                <a:latin typeface="Roboto"/>
                <a:ea typeface="Roboto"/>
                <a:cs typeface="Roboto"/>
                <a:sym typeface="Roboto"/>
              </a:rPr>
              <a:t>Solving the Problem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6505575" y="293370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6572250" y="293370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Eliminates Fragmentation:</a:t>
            </a:r>
            <a:r>
              <a:rPr b="0" i="0" lang="en-US" sz="1500" u="none" cap="none" strike="noStrike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 Reduces context switching between 5-8 tools, saving ~40% productivity.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6505575" y="368617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6572250" y="3686175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Bridge the Gap:</a:t>
            </a:r>
            <a:r>
              <a:rPr b="0" i="0" lang="en-US" sz="1500" u="none" cap="none" strike="noStrike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 Provides mentorship to junior devs via AI agents.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6505575" y="443865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6572250" y="443865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Offline Capability:</a:t>
            </a:r>
            <a:r>
              <a:rPr b="0" i="0" lang="en-US" sz="1500" u="none" cap="none" strike="noStrike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 Runs locally to bypass connectivity issues.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5" name="Google Shape;12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366962"/>
            <a:ext cx="5381625" cy="15811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38875" y="2366962"/>
            <a:ext cx="5381625" cy="15811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233862"/>
            <a:ext cx="5381625" cy="15811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38875" y="4233862"/>
            <a:ext cx="5381625" cy="15811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5"/>
          <p:cNvSpPr txBox="1"/>
          <p:nvPr/>
        </p:nvSpPr>
        <p:spPr>
          <a:xfrm>
            <a:off x="571500" y="952500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List of features offered by the solution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9324975" y="242887"/>
            <a:ext cx="24860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AI for Bharat Hackathon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381000" y="300037"/>
            <a:ext cx="70485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Roboto Medium"/>
                <a:ea typeface="Roboto Medium"/>
                <a:cs typeface="Roboto Medium"/>
                <a:sym typeface="Roboto Medium"/>
              </a:rPr>
              <a:t>Powered by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1276350" y="242887"/>
            <a:ext cx="432196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32F3E"/>
                </a:solidFill>
                <a:latin typeface="Arial"/>
                <a:ea typeface="Arial"/>
                <a:cs typeface="Arial"/>
                <a:sym typeface="Arial"/>
              </a:rPr>
              <a:t>aws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2089546" y="300037"/>
            <a:ext cx="1419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Roboto Medium"/>
                <a:ea typeface="Roboto Medium"/>
                <a:cs typeface="Roboto Medium"/>
                <a:sym typeface="Roboto Medium"/>
              </a:rPr>
              <a:t>Innovation partner </a:t>
            </a:r>
            <a:r>
              <a:rPr b="1" i="0" lang="en-US" sz="1050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H2S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1946671" y="300037"/>
            <a:ext cx="9525" cy="152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5"/>
          <p:cNvSpPr txBox="1"/>
          <p:nvPr/>
        </p:nvSpPr>
        <p:spPr>
          <a:xfrm>
            <a:off x="3889771" y="300037"/>
            <a:ext cx="16859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Roboto Medium"/>
                <a:ea typeface="Roboto Medium"/>
                <a:cs typeface="Roboto Medium"/>
                <a:sym typeface="Roboto Medium"/>
              </a:rPr>
              <a:t>Media partner </a:t>
            </a:r>
            <a:r>
              <a:rPr b="1" i="0" lang="en-US" sz="1050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YOURSTORY</a:t>
            </a:r>
            <a:endParaRPr/>
          </a:p>
        </p:txBody>
      </p:sp>
      <p:sp>
        <p:nvSpPr>
          <p:cNvPr id="137" name="Google Shape;137;p15"/>
          <p:cNvSpPr/>
          <p:nvPr/>
        </p:nvSpPr>
        <p:spPr>
          <a:xfrm>
            <a:off x="3746896" y="300037"/>
            <a:ext cx="9525" cy="152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5"/>
          <p:cNvSpPr/>
          <p:nvPr/>
        </p:nvSpPr>
        <p:spPr>
          <a:xfrm>
            <a:off x="1276350" y="361950"/>
            <a:ext cx="432196" cy="28575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5"/>
          <p:cNvSpPr txBox="1"/>
          <p:nvPr/>
        </p:nvSpPr>
        <p:spPr>
          <a:xfrm>
            <a:off x="1114425" y="2605087"/>
            <a:ext cx="4830603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AI-Native Core</a:t>
            </a:r>
            <a:endParaRPr/>
          </a:p>
        </p:txBody>
      </p:sp>
      <p:sp>
        <p:nvSpPr>
          <p:cNvPr id="140" name="Google Shape;140;p15"/>
          <p:cNvSpPr txBox="1"/>
          <p:nvPr/>
        </p:nvSpPr>
        <p:spPr>
          <a:xfrm>
            <a:off x="857250" y="2938462"/>
            <a:ext cx="4857750" cy="771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55555"/>
                </a:solidFill>
                <a:latin typeface="Roboto"/>
                <a:ea typeface="Roboto"/>
                <a:cs typeface="Roboto"/>
                <a:sym typeface="Roboto"/>
              </a:rPr>
              <a:t>Features Ghost completions, Smart Documentation (Option+Click), and a Natural Language Command Bar that converts "Make this blue" into CSS code instantly.</a:t>
            </a:r>
            <a:endParaRPr/>
          </a:p>
        </p:txBody>
      </p:sp>
      <p:sp>
        <p:nvSpPr>
          <p:cNvPr id="141" name="Google Shape;141;p15"/>
          <p:cNvSpPr txBox="1"/>
          <p:nvPr/>
        </p:nvSpPr>
        <p:spPr>
          <a:xfrm>
            <a:off x="6886575" y="2605087"/>
            <a:ext cx="472059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Agentic Pipelines</a:t>
            </a:r>
            <a:endParaRPr/>
          </a:p>
        </p:txBody>
      </p:sp>
      <p:sp>
        <p:nvSpPr>
          <p:cNvPr id="142" name="Google Shape;142;p15"/>
          <p:cNvSpPr txBox="1"/>
          <p:nvPr/>
        </p:nvSpPr>
        <p:spPr>
          <a:xfrm>
            <a:off x="6524625" y="2938462"/>
            <a:ext cx="4857750" cy="771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55555"/>
                </a:solidFill>
                <a:latin typeface="Roboto"/>
                <a:ea typeface="Roboto"/>
                <a:cs typeface="Roboto"/>
                <a:sym typeface="Roboto"/>
              </a:rPr>
              <a:t>A 6-stage autonomous workflow where agents handle Research, Architecture, Coding, Verification, and QA before Human approval.</a:t>
            </a:r>
            <a:endParaRPr/>
          </a:p>
        </p:txBody>
      </p:sp>
      <p:sp>
        <p:nvSpPr>
          <p:cNvPr id="143" name="Google Shape;143;p15"/>
          <p:cNvSpPr txBox="1"/>
          <p:nvPr/>
        </p:nvSpPr>
        <p:spPr>
          <a:xfrm>
            <a:off x="1219200" y="4471987"/>
            <a:ext cx="472059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Full IDE Replacement</a:t>
            </a:r>
            <a:endParaRPr/>
          </a:p>
        </p:txBody>
      </p:sp>
      <p:sp>
        <p:nvSpPr>
          <p:cNvPr id="144" name="Google Shape;144;p15"/>
          <p:cNvSpPr txBox="1"/>
          <p:nvPr/>
        </p:nvSpPr>
        <p:spPr>
          <a:xfrm>
            <a:off x="857250" y="4805362"/>
            <a:ext cx="4857750" cy="771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55555"/>
                </a:solidFill>
                <a:latin typeface="Roboto"/>
                <a:ea typeface="Roboto"/>
                <a:cs typeface="Roboto"/>
                <a:sym typeface="Roboto"/>
              </a:rPr>
              <a:t>Not a plugin. A complete environment with built-in Terminal, Git integration, Debugger (LLDB), and support for 35+ languages via Tree-sitter.</a:t>
            </a:r>
            <a:endParaRPr/>
          </a:p>
        </p:txBody>
      </p:sp>
      <p:sp>
        <p:nvSpPr>
          <p:cNvPr id="145" name="Google Shape;145;p15"/>
          <p:cNvSpPr txBox="1"/>
          <p:nvPr/>
        </p:nvSpPr>
        <p:spPr>
          <a:xfrm>
            <a:off x="6829425" y="4471987"/>
            <a:ext cx="4780597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Privacy-First</a:t>
            </a:r>
            <a:endParaRPr/>
          </a:p>
        </p:txBody>
      </p:sp>
      <p:sp>
        <p:nvSpPr>
          <p:cNvPr id="146" name="Google Shape;146;p15"/>
          <p:cNvSpPr txBox="1"/>
          <p:nvPr/>
        </p:nvSpPr>
        <p:spPr>
          <a:xfrm>
            <a:off x="6524625" y="4805362"/>
            <a:ext cx="4857750" cy="771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55555"/>
                </a:solidFill>
                <a:latin typeface="Roboto"/>
                <a:ea typeface="Roboto"/>
                <a:cs typeface="Roboto"/>
                <a:sym typeface="Roboto"/>
              </a:rPr>
              <a:t>Code stays local. Intelligent router sends only necessary prompts to AWS Bedrock, ensuring IP protection and no telemetry.</a:t>
            </a:r>
            <a:endParaRPr/>
          </a:p>
        </p:txBody>
      </p:sp>
      <p:pic>
        <p:nvPicPr>
          <p:cNvPr descr="image.png" id="147" name="Google Shape;147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7250" y="2619375"/>
            <a:ext cx="16192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24625" y="2619375"/>
            <a:ext cx="26670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9" name="Google Shape;149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57250" y="4486275"/>
            <a:ext cx="26670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0" name="Google Shape;150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524625" y="4486275"/>
            <a:ext cx="209550" cy="209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155" name="Google Shape;15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7625" y="0"/>
            <a:ext cx="1228725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0" name="Google Shape;16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057400"/>
            <a:ext cx="5286375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1" name="Google Shape;161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357437"/>
            <a:ext cx="5286375" cy="3543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2" name="Google Shape;162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0"/>
            <a:ext cx="1219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7"/>
          <p:cNvSpPr txBox="1"/>
          <p:nvPr/>
        </p:nvSpPr>
        <p:spPr>
          <a:xfrm>
            <a:off x="571500" y="952500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Wireframes of the proposed solution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9324975" y="242887"/>
            <a:ext cx="24860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AI for Bharat Hackathon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381000" y="300037"/>
            <a:ext cx="70485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Roboto Medium"/>
                <a:ea typeface="Roboto Medium"/>
                <a:cs typeface="Roboto Medium"/>
                <a:sym typeface="Roboto Medium"/>
              </a:rPr>
              <a:t>Powered by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1276350" y="242887"/>
            <a:ext cx="432196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32F3E"/>
                </a:solidFill>
                <a:latin typeface="Arial"/>
                <a:ea typeface="Arial"/>
                <a:cs typeface="Arial"/>
                <a:sym typeface="Arial"/>
              </a:rPr>
              <a:t>aws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2089546" y="300037"/>
            <a:ext cx="1419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Roboto Medium"/>
                <a:ea typeface="Roboto Medium"/>
                <a:cs typeface="Roboto Medium"/>
                <a:sym typeface="Roboto Medium"/>
              </a:rPr>
              <a:t>Innovation partner </a:t>
            </a:r>
            <a:r>
              <a:rPr b="1" i="0" lang="en-US" sz="1050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H2S</a:t>
            </a:r>
            <a:endParaRPr/>
          </a:p>
        </p:txBody>
      </p:sp>
      <p:sp>
        <p:nvSpPr>
          <p:cNvPr id="168" name="Google Shape;168;p17"/>
          <p:cNvSpPr/>
          <p:nvPr/>
        </p:nvSpPr>
        <p:spPr>
          <a:xfrm>
            <a:off x="1946671" y="300037"/>
            <a:ext cx="9525" cy="152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3889771" y="300037"/>
            <a:ext cx="16859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Roboto Medium"/>
                <a:ea typeface="Roboto Medium"/>
                <a:cs typeface="Roboto Medium"/>
                <a:sym typeface="Roboto Medium"/>
              </a:rPr>
              <a:t>Media partner </a:t>
            </a:r>
            <a:r>
              <a:rPr b="1" i="0" lang="en-US" sz="1050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YOURSTORY</a:t>
            </a:r>
            <a:endParaRPr/>
          </a:p>
        </p:txBody>
      </p:sp>
      <p:sp>
        <p:nvSpPr>
          <p:cNvPr id="170" name="Google Shape;170;p17"/>
          <p:cNvSpPr/>
          <p:nvPr/>
        </p:nvSpPr>
        <p:spPr>
          <a:xfrm>
            <a:off x="3746896" y="300037"/>
            <a:ext cx="9525" cy="152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/>
          <p:nvPr/>
        </p:nvSpPr>
        <p:spPr>
          <a:xfrm>
            <a:off x="1276350" y="361950"/>
            <a:ext cx="432196" cy="28575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 txBox="1"/>
          <p:nvPr/>
        </p:nvSpPr>
        <p:spPr>
          <a:xfrm>
            <a:off x="571500" y="1704975"/>
            <a:ext cx="5550693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555555"/>
                </a:solidFill>
                <a:latin typeface="Roboto"/>
                <a:ea typeface="Roboto"/>
                <a:cs typeface="Roboto"/>
                <a:sym typeface="Roboto"/>
              </a:rPr>
              <a:t>SupaDev Editor Interface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571500" y="6010275"/>
            <a:ext cx="5286375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The interface is designed to be familiar to VS Code users but streamlined for agentic interactions. The "Ghost Text" (purple overlay) shows agent suggestions in real-time.</a:t>
            </a:r>
            <a:endParaRPr/>
          </a:p>
        </p:txBody>
      </p:sp>
      <p:pic>
        <p:nvPicPr>
          <p:cNvPr descr="image.png" id="174" name="Google Shape;174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2066925"/>
            <a:ext cx="526732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7"/>
          <p:cNvSpPr txBox="1"/>
          <p:nvPr/>
        </p:nvSpPr>
        <p:spPr>
          <a:xfrm>
            <a:off x="6953250" y="2595562"/>
            <a:ext cx="4650581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Integrated Terminal</a:t>
            </a:r>
            <a:endParaRPr/>
          </a:p>
        </p:txBody>
      </p:sp>
      <p:sp>
        <p:nvSpPr>
          <p:cNvPr id="176" name="Google Shape;176;p17"/>
          <p:cNvSpPr txBox="1"/>
          <p:nvPr/>
        </p:nvSpPr>
        <p:spPr>
          <a:xfrm>
            <a:off x="6619875" y="2928937"/>
            <a:ext cx="47625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55555"/>
                </a:solidFill>
                <a:latin typeface="Roboto"/>
                <a:ea typeface="Roboto"/>
                <a:cs typeface="Roboto"/>
                <a:sym typeface="Roboto"/>
              </a:rPr>
              <a:t>Built-in terminal with AI command injection.</a:t>
            </a:r>
            <a:endParaRPr/>
          </a:p>
        </p:txBody>
      </p:sp>
      <p:sp>
        <p:nvSpPr>
          <p:cNvPr id="177" name="Google Shape;177;p17"/>
          <p:cNvSpPr/>
          <p:nvPr/>
        </p:nvSpPr>
        <p:spPr>
          <a:xfrm>
            <a:off x="6619875" y="3376612"/>
            <a:ext cx="476250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7"/>
          <p:cNvSpPr txBox="1"/>
          <p:nvPr/>
        </p:nvSpPr>
        <p:spPr>
          <a:xfrm>
            <a:off x="6896100" y="3576637"/>
            <a:ext cx="4710588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Git Graph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6619875" y="3910012"/>
            <a:ext cx="476250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55555"/>
                </a:solidFill>
                <a:latin typeface="Roboto"/>
                <a:ea typeface="Roboto"/>
                <a:cs typeface="Roboto"/>
                <a:sym typeface="Roboto"/>
              </a:rPr>
              <a:t>Visual commit history and hunk-level staging managed by agents.</a:t>
            </a:r>
            <a:endParaRPr/>
          </a:p>
        </p:txBody>
      </p:sp>
      <p:sp>
        <p:nvSpPr>
          <p:cNvPr id="180" name="Google Shape;180;p17"/>
          <p:cNvSpPr/>
          <p:nvPr/>
        </p:nvSpPr>
        <p:spPr>
          <a:xfrm>
            <a:off x="6619875" y="4614862"/>
            <a:ext cx="476250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7"/>
          <p:cNvSpPr txBox="1"/>
          <p:nvPr/>
        </p:nvSpPr>
        <p:spPr>
          <a:xfrm>
            <a:off x="6924675" y="4814887"/>
            <a:ext cx="4680585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Intelligent Debugger</a:t>
            </a:r>
            <a:endParaRPr/>
          </a:p>
        </p:txBody>
      </p:sp>
      <p:sp>
        <p:nvSpPr>
          <p:cNvPr id="182" name="Google Shape;182;p17"/>
          <p:cNvSpPr txBox="1"/>
          <p:nvPr/>
        </p:nvSpPr>
        <p:spPr>
          <a:xfrm>
            <a:off x="6619875" y="5148262"/>
            <a:ext cx="476250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55555"/>
                </a:solidFill>
                <a:latin typeface="Roboto"/>
                <a:ea typeface="Roboto"/>
                <a:cs typeface="Roboto"/>
                <a:sym typeface="Roboto"/>
              </a:rPr>
              <a:t>One-click "Fix It" button that analyzes stack traces and applies patches.</a:t>
            </a:r>
            <a:endParaRPr/>
          </a:p>
        </p:txBody>
      </p:sp>
      <p:pic>
        <p:nvPicPr>
          <p:cNvPr descr="image.png" id="183" name="Google Shape;183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19875" y="2609850"/>
            <a:ext cx="23812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4" name="Google Shape;184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19875" y="3590925"/>
            <a:ext cx="1809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5" name="Google Shape;185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619875" y="4829175"/>
            <a:ext cx="209550" cy="209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190" name="Google Shape;19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7625" y="0"/>
            <a:ext cx="1228725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5" name="Google Shape;19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704975"/>
            <a:ext cx="5286375" cy="239985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1704975"/>
            <a:ext cx="5286375" cy="3362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7" name="Google Shape;197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0"/>
            <a:ext cx="1219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/>
          <p:nvPr/>
        </p:nvSpPr>
        <p:spPr>
          <a:xfrm>
            <a:off x="571500" y="952500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Technologies to be used in the solution</a:t>
            </a:r>
            <a:endParaRPr/>
          </a:p>
        </p:txBody>
      </p:sp>
      <p:sp>
        <p:nvSpPr>
          <p:cNvPr id="199" name="Google Shape;199;p19"/>
          <p:cNvSpPr txBox="1"/>
          <p:nvPr/>
        </p:nvSpPr>
        <p:spPr>
          <a:xfrm>
            <a:off x="9324975" y="242887"/>
            <a:ext cx="24860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AI for Bharat Hackathon</a:t>
            </a:r>
            <a:endParaRPr/>
          </a:p>
        </p:txBody>
      </p:sp>
      <p:sp>
        <p:nvSpPr>
          <p:cNvPr id="200" name="Google Shape;200;p19"/>
          <p:cNvSpPr txBox="1"/>
          <p:nvPr/>
        </p:nvSpPr>
        <p:spPr>
          <a:xfrm>
            <a:off x="381000" y="300037"/>
            <a:ext cx="70485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Roboto Medium"/>
                <a:ea typeface="Roboto Medium"/>
                <a:cs typeface="Roboto Medium"/>
                <a:sym typeface="Roboto Medium"/>
              </a:rPr>
              <a:t>Powered by</a:t>
            </a:r>
            <a:endParaRPr/>
          </a:p>
        </p:txBody>
      </p:sp>
      <p:sp>
        <p:nvSpPr>
          <p:cNvPr id="201" name="Google Shape;201;p19"/>
          <p:cNvSpPr txBox="1"/>
          <p:nvPr/>
        </p:nvSpPr>
        <p:spPr>
          <a:xfrm>
            <a:off x="1276350" y="242887"/>
            <a:ext cx="432196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32F3E"/>
                </a:solidFill>
                <a:latin typeface="Arial"/>
                <a:ea typeface="Arial"/>
                <a:cs typeface="Arial"/>
                <a:sym typeface="Arial"/>
              </a:rPr>
              <a:t>aws</a:t>
            </a:r>
            <a:endParaRPr/>
          </a:p>
        </p:txBody>
      </p:sp>
      <p:sp>
        <p:nvSpPr>
          <p:cNvPr id="202" name="Google Shape;202;p19"/>
          <p:cNvSpPr txBox="1"/>
          <p:nvPr/>
        </p:nvSpPr>
        <p:spPr>
          <a:xfrm>
            <a:off x="2089546" y="300037"/>
            <a:ext cx="1419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Roboto Medium"/>
                <a:ea typeface="Roboto Medium"/>
                <a:cs typeface="Roboto Medium"/>
                <a:sym typeface="Roboto Medium"/>
              </a:rPr>
              <a:t>Innovation partner </a:t>
            </a:r>
            <a:r>
              <a:rPr b="1" i="0" lang="en-US" sz="1050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H2S</a:t>
            </a:r>
            <a:endParaRPr/>
          </a:p>
        </p:txBody>
      </p:sp>
      <p:sp>
        <p:nvSpPr>
          <p:cNvPr id="203" name="Google Shape;203;p19"/>
          <p:cNvSpPr/>
          <p:nvPr/>
        </p:nvSpPr>
        <p:spPr>
          <a:xfrm>
            <a:off x="1946671" y="300037"/>
            <a:ext cx="9525" cy="152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9"/>
          <p:cNvSpPr txBox="1"/>
          <p:nvPr/>
        </p:nvSpPr>
        <p:spPr>
          <a:xfrm>
            <a:off x="3889771" y="300037"/>
            <a:ext cx="16859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Roboto Medium"/>
                <a:ea typeface="Roboto Medium"/>
                <a:cs typeface="Roboto Medium"/>
                <a:sym typeface="Roboto Medium"/>
              </a:rPr>
              <a:t>Media partner </a:t>
            </a:r>
            <a:r>
              <a:rPr b="1" i="0" lang="en-US" sz="1050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YOURSTORY</a:t>
            </a:r>
            <a:endParaRPr/>
          </a:p>
        </p:txBody>
      </p:sp>
      <p:sp>
        <p:nvSpPr>
          <p:cNvPr id="205" name="Google Shape;205;p19"/>
          <p:cNvSpPr/>
          <p:nvPr/>
        </p:nvSpPr>
        <p:spPr>
          <a:xfrm>
            <a:off x="3746896" y="300037"/>
            <a:ext cx="9525" cy="152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9"/>
          <p:cNvSpPr/>
          <p:nvPr/>
        </p:nvSpPr>
        <p:spPr>
          <a:xfrm>
            <a:off x="1276350" y="361950"/>
            <a:ext cx="432196" cy="28575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9"/>
          <p:cNvSpPr txBox="1"/>
          <p:nvPr/>
        </p:nvSpPr>
        <p:spPr>
          <a:xfrm>
            <a:off x="857250" y="1943100"/>
            <a:ext cx="5000625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Core Frameworks</a:t>
            </a:r>
            <a:endParaRPr/>
          </a:p>
        </p:txBody>
      </p:sp>
      <p:sp>
        <p:nvSpPr>
          <p:cNvPr id="208" name="Google Shape;208;p19"/>
          <p:cNvSpPr txBox="1"/>
          <p:nvPr/>
        </p:nvSpPr>
        <p:spPr>
          <a:xfrm>
            <a:off x="6619875" y="1943100"/>
            <a:ext cx="5000625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32F3E"/>
                </a:solidFill>
                <a:latin typeface="Roboto"/>
                <a:ea typeface="Roboto"/>
                <a:cs typeface="Roboto"/>
                <a:sym typeface="Roboto"/>
              </a:rPr>
              <a:t>AWS Cloud Stack</a:t>
            </a:r>
            <a:endParaRPr/>
          </a:p>
        </p:txBody>
      </p:sp>
      <p:sp>
        <p:nvSpPr>
          <p:cNvPr id="209" name="Google Shape;209;p19"/>
          <p:cNvSpPr txBox="1"/>
          <p:nvPr/>
        </p:nvSpPr>
        <p:spPr>
          <a:xfrm>
            <a:off x="800100" y="2326005"/>
            <a:ext cx="571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sp>
        <p:nvSpPr>
          <p:cNvPr id="210" name="Google Shape;210;p19"/>
          <p:cNvSpPr txBox="1"/>
          <p:nvPr/>
        </p:nvSpPr>
        <p:spPr>
          <a:xfrm>
            <a:off x="857250" y="2324100"/>
            <a:ext cx="4762500" cy="308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7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Swift (AppKit/SwiftUI):</a:t>
            </a:r>
            <a:r>
              <a:rPr b="0" i="0" lang="en-US" sz="135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For native macOS performance.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00100" y="2634525"/>
            <a:ext cx="571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857250" y="2632620"/>
            <a:ext cx="4762500" cy="617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7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Tree-sitter:</a:t>
            </a:r>
            <a:r>
              <a:rPr b="0" i="0" lang="en-US" sz="135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For high-performance syntax highlighting and code parsing.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800100" y="3251567"/>
            <a:ext cx="571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857250" y="3249662"/>
            <a:ext cx="4762500" cy="308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7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LLDB:</a:t>
            </a:r>
            <a:r>
              <a:rPr b="0" i="0" lang="en-US" sz="135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Integrated debugging infrastructure.</a:t>
            </a:r>
            <a:endParaRPr/>
          </a:p>
        </p:txBody>
      </p:sp>
      <p:sp>
        <p:nvSpPr>
          <p:cNvPr id="215" name="Google Shape;215;p19"/>
          <p:cNvSpPr txBox="1"/>
          <p:nvPr/>
        </p:nvSpPr>
        <p:spPr>
          <a:xfrm>
            <a:off x="800100" y="3560087"/>
            <a:ext cx="571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endParaRPr/>
          </a:p>
        </p:txBody>
      </p:sp>
      <p:sp>
        <p:nvSpPr>
          <p:cNvPr id="216" name="Google Shape;216;p19"/>
          <p:cNvSpPr txBox="1"/>
          <p:nvPr/>
        </p:nvSpPr>
        <p:spPr>
          <a:xfrm>
            <a:off x="857250" y="3558182"/>
            <a:ext cx="4762500" cy="308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57150" spcFirstLastPara="1" rIns="0" wrap="square" tIns="0">
            <a:spAutoFit/>
          </a:bodyPr>
          <a:lstStyle/>
          <a:p>
            <a:pPr indent="0" lvl="0" marL="0" marR="0" rtl="0" algn="l">
              <a:lnSpc>
                <a:spcPct val="17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Node.js:</a:t>
            </a:r>
            <a:r>
              <a:rPr b="0" i="0" lang="en-US" sz="135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Local backend and extension host.</a:t>
            </a:r>
            <a:endParaRPr/>
          </a:p>
        </p:txBody>
      </p:sp>
      <p:pic>
        <p:nvPicPr>
          <p:cNvPr descr="image.png" id="217" name="Google Shape;217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429500" y="2371725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9"/>
          <p:cNvSpPr txBox="1"/>
          <p:nvPr/>
        </p:nvSpPr>
        <p:spPr>
          <a:xfrm>
            <a:off x="7096125" y="2990850"/>
            <a:ext cx="114300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55555"/>
                </a:solidFill>
                <a:latin typeface="Roboto Medium"/>
                <a:ea typeface="Roboto Medium"/>
                <a:cs typeface="Roboto Medium"/>
                <a:sym typeface="Roboto Medium"/>
              </a:rPr>
              <a:t>Amazon Bedrock</a:t>
            </a:r>
            <a:endParaRPr/>
          </a:p>
        </p:txBody>
      </p:sp>
      <p:pic>
        <p:nvPicPr>
          <p:cNvPr descr="image.png" id="219" name="Google Shape;219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63000" y="2371725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9"/>
          <p:cNvSpPr txBox="1"/>
          <p:nvPr/>
        </p:nvSpPr>
        <p:spPr>
          <a:xfrm>
            <a:off x="8429625" y="2990850"/>
            <a:ext cx="11430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55555"/>
                </a:solidFill>
                <a:latin typeface="Roboto Medium"/>
                <a:ea typeface="Roboto Medium"/>
                <a:cs typeface="Roboto Medium"/>
                <a:sym typeface="Roboto Medium"/>
              </a:rPr>
              <a:t>AWS Lambda</a:t>
            </a:r>
            <a:endParaRPr/>
          </a:p>
        </p:txBody>
      </p:sp>
      <p:pic>
        <p:nvPicPr>
          <p:cNvPr descr="image.png" id="221" name="Google Shape;221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125075" y="2371725"/>
            <a:ext cx="4191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9"/>
          <p:cNvSpPr txBox="1"/>
          <p:nvPr/>
        </p:nvSpPr>
        <p:spPr>
          <a:xfrm>
            <a:off x="9763125" y="2990850"/>
            <a:ext cx="11430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55555"/>
                </a:solidFill>
                <a:latin typeface="Roboto Medium"/>
                <a:ea typeface="Roboto Medium"/>
                <a:cs typeface="Roboto Medium"/>
                <a:sym typeface="Roboto Medium"/>
              </a:rPr>
              <a:t>Amazon S3</a:t>
            </a:r>
            <a:endParaRPr/>
          </a:p>
        </p:txBody>
      </p:sp>
      <p:pic>
        <p:nvPicPr>
          <p:cNvPr descr="image.png" id="223" name="Google Shape;223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701087" y="3695700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9"/>
          <p:cNvSpPr txBox="1"/>
          <p:nvPr/>
        </p:nvSpPr>
        <p:spPr>
          <a:xfrm>
            <a:off x="8429625" y="4314825"/>
            <a:ext cx="114300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55555"/>
                </a:solidFill>
                <a:latin typeface="Roboto Medium"/>
                <a:ea typeface="Roboto Medium"/>
                <a:cs typeface="Roboto Medium"/>
                <a:sym typeface="Roboto Medium"/>
              </a:rPr>
              <a:t>AWS CodePipeline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REVISE THIS SLIDE TO SHOWCASE OUR IMPLEMENTATION COST NOT THE SELLING SUBSCRIPTION PRICING" id="229" name="Google Shape;22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7625" y="0"/>
            <a:ext cx="1228725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F2E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4" name="Google Shape;23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953000"/>
            <a:ext cx="12192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5" name="Google Shape;235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48137" y="4395787"/>
            <a:ext cx="3895725" cy="1076325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1"/>
          <p:cNvSpPr txBox="1"/>
          <p:nvPr/>
        </p:nvSpPr>
        <p:spPr>
          <a:xfrm>
            <a:off x="571500" y="381000"/>
            <a:ext cx="41338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Innovation partner </a:t>
            </a:r>
            <a:r>
              <a:rPr b="1" i="0" lang="en-US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H2S</a:t>
            </a:r>
            <a:r>
              <a:rPr b="0" i="0" lang="en-US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Media partner </a:t>
            </a:r>
            <a:r>
              <a:rPr b="1" i="0" lang="en-US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YOURSTORY</a:t>
            </a:r>
            <a:endParaRPr/>
          </a:p>
        </p:txBody>
      </p:sp>
      <p:sp>
        <p:nvSpPr>
          <p:cNvPr id="237" name="Google Shape;237;p21"/>
          <p:cNvSpPr txBox="1"/>
          <p:nvPr/>
        </p:nvSpPr>
        <p:spPr>
          <a:xfrm>
            <a:off x="9134475" y="381000"/>
            <a:ext cx="24860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AI for Bharat Hackathon</a:t>
            </a:r>
            <a:endParaRPr/>
          </a:p>
        </p:txBody>
      </p:sp>
      <p:sp>
        <p:nvSpPr>
          <p:cNvPr id="238" name="Google Shape;238;p21"/>
          <p:cNvSpPr txBox="1"/>
          <p:nvPr/>
        </p:nvSpPr>
        <p:spPr>
          <a:xfrm>
            <a:off x="3810714" y="909637"/>
            <a:ext cx="4570571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AI for Bharat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60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Hackathon</a:t>
            </a:r>
            <a:endParaRPr/>
          </a:p>
        </p:txBody>
      </p:sp>
      <p:sp>
        <p:nvSpPr>
          <p:cNvPr id="239" name="Google Shape;239;p21"/>
          <p:cNvSpPr txBox="1"/>
          <p:nvPr/>
        </p:nvSpPr>
        <p:spPr>
          <a:xfrm>
            <a:off x="3810714" y="2890837"/>
            <a:ext cx="4570571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Powered by </a:t>
            </a:r>
            <a:r>
              <a:rPr b="0" i="0" lang="en-US" sz="2400" u="none" cap="none" strike="noStrike">
                <a:solidFill>
                  <a:srgbClr val="FFFFFF"/>
                </a:solidFill>
                <a:latin typeface="Roboto ExtraBold"/>
                <a:ea typeface="Roboto ExtraBold"/>
                <a:cs typeface="Roboto ExtraBold"/>
                <a:sym typeface="Roboto ExtraBold"/>
              </a:rPr>
              <a:t>aws</a:t>
            </a:r>
            <a:endParaRPr/>
          </a:p>
        </p:txBody>
      </p:sp>
      <p:sp>
        <p:nvSpPr>
          <p:cNvPr id="240" name="Google Shape;240;p21"/>
          <p:cNvSpPr txBox="1"/>
          <p:nvPr/>
        </p:nvSpPr>
        <p:spPr>
          <a:xfrm>
            <a:off x="4660820" y="4595812"/>
            <a:ext cx="2870358" cy="676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Thank You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