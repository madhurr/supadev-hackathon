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y="6858000" cx="12192000"/>
  <p:notesSz cx="6858000" cy="9144000"/>
  <p:embeddedFontLst>
    <p:embeddedFont>
      <p:font typeface="Inter SemiBold"/>
      <p:regular r:id="rId21"/>
      <p:bold r:id="rId22"/>
      <p:italic r:id="rId23"/>
      <p:boldItalic r:id="rId24"/>
    </p:embeddedFont>
    <p:embeddedFont>
      <p:font typeface="Inter"/>
      <p:regular r:id="rId25"/>
      <p:bold r:id="rId26"/>
      <p:italic r:id="rId27"/>
      <p:boldItalic r:id="rId28"/>
    </p:embeddedFont>
    <p:embeddedFont>
      <p:font typeface="Inter Medium"/>
      <p:regular r:id="rId29"/>
      <p:bold r:id="rId30"/>
      <p:italic r:id="rId31"/>
      <p:boldItalic r:id="rId32"/>
    </p:embeddedFont>
    <p:embeddedFont>
      <p:font typeface="JetBrains Mono"/>
      <p:regular r:id="rId33"/>
      <p:bold r:id="rId34"/>
      <p:italic r:id="rId35"/>
      <p:boldItalic r:id="rId3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BE37DE3C-FE46-4FFD-BE4B-1389065FC417}">
  <a:tblStyle styleId="{BE37DE3C-FE46-4FFD-BE4B-1389065FC417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fill>
          <a:solidFill>
            <a:srgbClr val="CFD7E7"/>
          </a:solidFill>
        </a:fill>
      </a:tcStyle>
    </a:band1H>
    <a:band2H>
      <a:tcTxStyle/>
    </a:band2H>
    <a:band1V>
      <a:tcTxStyle/>
      <a:tcStyle>
        <a:fill>
          <a:solidFill>
            <a:srgbClr val="CFD7E7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font" Target="fonts/InterSemiBold-bold.fntdata"/><Relationship Id="rId21" Type="http://schemas.openxmlformats.org/officeDocument/2006/relationships/font" Target="fonts/InterSemiBold-regular.fntdata"/><Relationship Id="rId24" Type="http://schemas.openxmlformats.org/officeDocument/2006/relationships/font" Target="fonts/InterSemiBold-boldItalic.fntdata"/><Relationship Id="rId23" Type="http://schemas.openxmlformats.org/officeDocument/2006/relationships/font" Target="fonts/InterSemiBold-italic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26" Type="http://schemas.openxmlformats.org/officeDocument/2006/relationships/font" Target="fonts/Inter-bold.fntdata"/><Relationship Id="rId25" Type="http://schemas.openxmlformats.org/officeDocument/2006/relationships/font" Target="fonts/Inter-regular.fntdata"/><Relationship Id="rId28" Type="http://schemas.openxmlformats.org/officeDocument/2006/relationships/font" Target="fonts/Inter-boldItalic.fntdata"/><Relationship Id="rId27" Type="http://schemas.openxmlformats.org/officeDocument/2006/relationships/font" Target="fonts/Inter-italic.fntdata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29" Type="http://schemas.openxmlformats.org/officeDocument/2006/relationships/font" Target="fonts/InterMedium-regular.fntdata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font" Target="fonts/InterMedium-italic.fntdata"/><Relationship Id="rId30" Type="http://schemas.openxmlformats.org/officeDocument/2006/relationships/font" Target="fonts/InterMedium-bold.fntdata"/><Relationship Id="rId11" Type="http://schemas.openxmlformats.org/officeDocument/2006/relationships/slide" Target="slides/slide5.xml"/><Relationship Id="rId33" Type="http://schemas.openxmlformats.org/officeDocument/2006/relationships/font" Target="fonts/JetBrainsMono-regular.fntdata"/><Relationship Id="rId10" Type="http://schemas.openxmlformats.org/officeDocument/2006/relationships/slide" Target="slides/slide4.xml"/><Relationship Id="rId32" Type="http://schemas.openxmlformats.org/officeDocument/2006/relationships/font" Target="fonts/InterMedium-boldItalic.fntdata"/><Relationship Id="rId13" Type="http://schemas.openxmlformats.org/officeDocument/2006/relationships/slide" Target="slides/slide7.xml"/><Relationship Id="rId35" Type="http://schemas.openxmlformats.org/officeDocument/2006/relationships/font" Target="fonts/JetBrainsMono-italic.fntdata"/><Relationship Id="rId12" Type="http://schemas.openxmlformats.org/officeDocument/2006/relationships/slide" Target="slides/slide6.xml"/><Relationship Id="rId34" Type="http://schemas.openxmlformats.org/officeDocument/2006/relationships/font" Target="fonts/JetBrainsMono-bold.fntdata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36" Type="http://schemas.openxmlformats.org/officeDocument/2006/relationships/font" Target="fonts/JetBrainsMono-boldItalic.fntdata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9" name="Google Shape;89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6" name="Google Shape;116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3" name="Google Shape;133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4" name="Google Shape;254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1" name="Google Shape;281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1" name="Google Shape;301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7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9" name="Google Shape;319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1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9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1" name="Google Shape;361;p1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jp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8.png"/><Relationship Id="rId4" Type="http://schemas.openxmlformats.org/officeDocument/2006/relationships/image" Target="../media/image13.png"/><Relationship Id="rId5" Type="http://schemas.openxmlformats.org/officeDocument/2006/relationships/image" Target="../media/image2.png"/><Relationship Id="rId6" Type="http://schemas.openxmlformats.org/officeDocument/2006/relationships/image" Target="../media/image1.png"/><Relationship Id="rId7" Type="http://schemas.openxmlformats.org/officeDocument/2006/relationships/image" Target="../media/image7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8.png"/><Relationship Id="rId4" Type="http://schemas.openxmlformats.org/officeDocument/2006/relationships/image" Target="../media/image11.png"/><Relationship Id="rId5" Type="http://schemas.openxmlformats.org/officeDocument/2006/relationships/image" Target="../media/image3.png"/><Relationship Id="rId6" Type="http://schemas.openxmlformats.org/officeDocument/2006/relationships/image" Target="../media/image6.png"/><Relationship Id="rId7" Type="http://schemas.openxmlformats.org/officeDocument/2006/relationships/image" Target="../media/image9.png"/><Relationship Id="rId8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8.png"/><Relationship Id="rId4" Type="http://schemas.openxmlformats.org/officeDocument/2006/relationships/image" Target="../media/image12.png"/><Relationship Id="rId11" Type="http://schemas.openxmlformats.org/officeDocument/2006/relationships/image" Target="../media/image22.png"/><Relationship Id="rId10" Type="http://schemas.openxmlformats.org/officeDocument/2006/relationships/image" Target="../media/image38.png"/><Relationship Id="rId12" Type="http://schemas.openxmlformats.org/officeDocument/2006/relationships/image" Target="../media/image19.png"/><Relationship Id="rId9" Type="http://schemas.openxmlformats.org/officeDocument/2006/relationships/image" Target="../media/image15.png"/><Relationship Id="rId5" Type="http://schemas.openxmlformats.org/officeDocument/2006/relationships/image" Target="../media/image8.png"/><Relationship Id="rId6" Type="http://schemas.openxmlformats.org/officeDocument/2006/relationships/image" Target="../media/image10.png"/><Relationship Id="rId7" Type="http://schemas.openxmlformats.org/officeDocument/2006/relationships/image" Target="../media/image16.png"/><Relationship Id="rId8" Type="http://schemas.openxmlformats.org/officeDocument/2006/relationships/image" Target="../media/image1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8.png"/><Relationship Id="rId4" Type="http://schemas.openxmlformats.org/officeDocument/2006/relationships/image" Target="../media/image2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8.png"/><Relationship Id="rId4" Type="http://schemas.openxmlformats.org/officeDocument/2006/relationships/image" Target="../media/image20.png"/><Relationship Id="rId11" Type="http://schemas.openxmlformats.org/officeDocument/2006/relationships/image" Target="../media/image35.png"/><Relationship Id="rId10" Type="http://schemas.openxmlformats.org/officeDocument/2006/relationships/image" Target="../media/image34.png"/><Relationship Id="rId9" Type="http://schemas.openxmlformats.org/officeDocument/2006/relationships/image" Target="../media/image24.png"/><Relationship Id="rId5" Type="http://schemas.openxmlformats.org/officeDocument/2006/relationships/image" Target="../media/image29.png"/><Relationship Id="rId6" Type="http://schemas.openxmlformats.org/officeDocument/2006/relationships/image" Target="../media/image32.png"/><Relationship Id="rId7" Type="http://schemas.openxmlformats.org/officeDocument/2006/relationships/image" Target="../media/image21.png"/><Relationship Id="rId8" Type="http://schemas.openxmlformats.org/officeDocument/2006/relationships/image" Target="../media/image2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8.png"/><Relationship Id="rId4" Type="http://schemas.openxmlformats.org/officeDocument/2006/relationships/image" Target="../media/image5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8.png"/><Relationship Id="rId4" Type="http://schemas.openxmlformats.org/officeDocument/2006/relationships/image" Target="../media/image13.png"/><Relationship Id="rId5" Type="http://schemas.openxmlformats.org/officeDocument/2006/relationships/image" Target="../media/image2.png"/><Relationship Id="rId6" Type="http://schemas.openxmlformats.org/officeDocument/2006/relationships/image" Target="../media/image31.png"/><Relationship Id="rId7" Type="http://schemas.openxmlformats.org/officeDocument/2006/relationships/image" Target="../media/image27.png"/></Relationships>
</file>

<file path=ppt/slides/_rels/slide9.xml.rels><?xml version="1.0" encoding="UTF-8" standalone="yes"?><Relationships xmlns="http://schemas.openxmlformats.org/package/2006/relationships"><Relationship Id="rId11" Type="http://schemas.openxmlformats.org/officeDocument/2006/relationships/image" Target="../media/image44.png"/><Relationship Id="rId10" Type="http://schemas.openxmlformats.org/officeDocument/2006/relationships/image" Target="../media/image48.png"/><Relationship Id="rId13" Type="http://schemas.openxmlformats.org/officeDocument/2006/relationships/image" Target="../media/image45.png"/><Relationship Id="rId12" Type="http://schemas.openxmlformats.org/officeDocument/2006/relationships/image" Target="../media/image51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8.png"/><Relationship Id="rId4" Type="http://schemas.openxmlformats.org/officeDocument/2006/relationships/image" Target="../media/image39.png"/><Relationship Id="rId9" Type="http://schemas.openxmlformats.org/officeDocument/2006/relationships/image" Target="../media/image42.png"/><Relationship Id="rId15" Type="http://schemas.openxmlformats.org/officeDocument/2006/relationships/image" Target="../media/image40.png"/><Relationship Id="rId14" Type="http://schemas.openxmlformats.org/officeDocument/2006/relationships/image" Target="../media/image47.png"/><Relationship Id="rId5" Type="http://schemas.openxmlformats.org/officeDocument/2006/relationships/image" Target="../media/image36.png"/><Relationship Id="rId6" Type="http://schemas.openxmlformats.org/officeDocument/2006/relationships/image" Target="../media/image23.png"/><Relationship Id="rId7" Type="http://schemas.openxmlformats.org/officeDocument/2006/relationships/image" Target="../media/image30.png"/><Relationship Id="rId8" Type="http://schemas.openxmlformats.org/officeDocument/2006/relationships/image" Target="../media/image33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8.png"/><Relationship Id="rId4" Type="http://schemas.openxmlformats.org/officeDocument/2006/relationships/image" Target="../media/image46.png"/><Relationship Id="rId5" Type="http://schemas.openxmlformats.org/officeDocument/2006/relationships/image" Target="../media/image41.png"/><Relationship Id="rId6" Type="http://schemas.openxmlformats.org/officeDocument/2006/relationships/image" Target="../media/image52.png"/><Relationship Id="rId7" Type="http://schemas.openxmlformats.org/officeDocument/2006/relationships/image" Target="../media/image5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8.png"/><Relationship Id="rId4" Type="http://schemas.openxmlformats.org/officeDocument/2006/relationships/image" Target="../media/image43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8.png"/><Relationship Id="rId4" Type="http://schemas.openxmlformats.org/officeDocument/2006/relationships/image" Target="../media/image50.png"/></Relationships>
</file>

<file path=ppt/slides/_rels/slide13.xml.rels><?xml version="1.0" encoding="UTF-8" standalone="yes"?><Relationships xmlns="http://schemas.openxmlformats.org/package/2006/relationships"><Relationship Id="rId11" Type="http://schemas.openxmlformats.org/officeDocument/2006/relationships/image" Target="../media/image63.png"/><Relationship Id="rId10" Type="http://schemas.openxmlformats.org/officeDocument/2006/relationships/image" Target="../media/image60.png"/><Relationship Id="rId12" Type="http://schemas.openxmlformats.org/officeDocument/2006/relationships/image" Target="../media/image58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8.png"/><Relationship Id="rId4" Type="http://schemas.openxmlformats.org/officeDocument/2006/relationships/image" Target="../media/image49.png"/><Relationship Id="rId9" Type="http://schemas.openxmlformats.org/officeDocument/2006/relationships/image" Target="../media/image53.png"/><Relationship Id="rId5" Type="http://schemas.openxmlformats.org/officeDocument/2006/relationships/image" Target="../media/image62.png"/><Relationship Id="rId6" Type="http://schemas.openxmlformats.org/officeDocument/2006/relationships/image" Target="../media/image54.png"/><Relationship Id="rId7" Type="http://schemas.openxmlformats.org/officeDocument/2006/relationships/image" Target="../media/image59.png"/><Relationship Id="rId8" Type="http://schemas.openxmlformats.org/officeDocument/2006/relationships/image" Target="../media/image5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 txBox="1"/>
          <p:nvPr/>
        </p:nvSpPr>
        <p:spPr>
          <a:xfrm>
            <a:off x="2450544" y="2335559"/>
            <a:ext cx="7290911" cy="8228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5400" u="none" cap="none" strike="noStrike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⚡ SupaDev</a:t>
            </a:r>
            <a:endParaRPr/>
          </a:p>
        </p:txBody>
      </p:sp>
      <p:sp>
        <p:nvSpPr>
          <p:cNvPr id="85" name="Google Shape;85;p13"/>
          <p:cNvSpPr txBox="1"/>
          <p:nvPr/>
        </p:nvSpPr>
        <p:spPr>
          <a:xfrm>
            <a:off x="2624137" y="3348930"/>
            <a:ext cx="6943725" cy="4875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E2E8F0"/>
                </a:solidFill>
                <a:latin typeface="Inter"/>
                <a:ea typeface="Inter"/>
                <a:cs typeface="Inter"/>
                <a:sym typeface="Inter"/>
              </a:rPr>
              <a:t>AI-Powered Agentic IDE for Bharat's Developers</a:t>
            </a:r>
            <a:endParaRPr/>
          </a:p>
        </p:txBody>
      </p:sp>
      <p:sp>
        <p:nvSpPr>
          <p:cNvPr id="86" name="Google Shape;86;p13"/>
          <p:cNvSpPr txBox="1"/>
          <p:nvPr/>
        </p:nvSpPr>
        <p:spPr>
          <a:xfrm>
            <a:off x="2624137" y="4548441"/>
            <a:ext cx="69438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A855F7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One IDE. Multiple AI Agents. Zero Context Switching.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E293B"/>
        </a:solidFill>
      </p:bgPr>
    </p:bg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91" name="Google Shape;91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92" name="Google Shape;92;p1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1025" y="1510605"/>
            <a:ext cx="5229225" cy="476636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93" name="Google Shape;93;p1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381750" y="1510605"/>
            <a:ext cx="5229225" cy="4766369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4"/>
          <p:cNvSpPr txBox="1"/>
          <p:nvPr/>
        </p:nvSpPr>
        <p:spPr>
          <a:xfrm>
            <a:off x="971550" y="1901130"/>
            <a:ext cx="4670583" cy="32950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30480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100" u="none" cap="none" strike="noStrike">
                <a:solidFill>
                  <a:srgbClr val="A855F7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Tool Fragmentation</a:t>
            </a:r>
            <a:endParaRPr/>
          </a:p>
        </p:txBody>
      </p:sp>
      <p:sp>
        <p:nvSpPr>
          <p:cNvPr id="95" name="Google Shape;95;p14"/>
          <p:cNvSpPr/>
          <p:nvPr/>
        </p:nvSpPr>
        <p:spPr>
          <a:xfrm>
            <a:off x="971550" y="2363985"/>
            <a:ext cx="4448175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14"/>
          <p:cNvSpPr txBox="1"/>
          <p:nvPr/>
        </p:nvSpPr>
        <p:spPr>
          <a:xfrm>
            <a:off x="6772275" y="1901130"/>
            <a:ext cx="4670583" cy="32950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7145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100" u="none" cap="none" strike="noStrike">
                <a:solidFill>
                  <a:srgbClr val="A855F7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Accessibility in Bharat</a:t>
            </a:r>
            <a:endParaRPr/>
          </a:p>
        </p:txBody>
      </p:sp>
      <p:sp>
        <p:nvSpPr>
          <p:cNvPr id="97" name="Google Shape;97;p14"/>
          <p:cNvSpPr/>
          <p:nvPr/>
        </p:nvSpPr>
        <p:spPr>
          <a:xfrm>
            <a:off x="6772275" y="2363985"/>
            <a:ext cx="4448175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98" name="Google Shape;98;p14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971550" y="1920180"/>
            <a:ext cx="304800" cy="266700"/>
          </a:xfrm>
          <a:prstGeom prst="rect">
            <a:avLst/>
          </a:prstGeom>
          <a:noFill/>
          <a:ln>
            <a:noFill/>
          </a:ln>
        </p:spPr>
      </p:pic>
      <p:sp>
        <p:nvSpPr>
          <p:cNvPr id="99" name="Google Shape;99;p14"/>
          <p:cNvSpPr txBox="1"/>
          <p:nvPr/>
        </p:nvSpPr>
        <p:spPr>
          <a:xfrm>
            <a:off x="1257300" y="2564010"/>
            <a:ext cx="4162425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Developers juggle 5-8 tools daily (Editor, Terminal, Git, AI Chat).</a:t>
            </a:r>
            <a:endParaRPr/>
          </a:p>
        </p:txBody>
      </p:sp>
      <p:sp>
        <p:nvSpPr>
          <p:cNvPr id="100" name="Google Shape;100;p14"/>
          <p:cNvSpPr txBox="1"/>
          <p:nvPr/>
        </p:nvSpPr>
        <p:spPr>
          <a:xfrm>
            <a:off x="1257300" y="3316485"/>
            <a:ext cx="4162425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40% of productivity is lost solely to context switching.</a:t>
            </a:r>
            <a:endParaRPr/>
          </a:p>
        </p:txBody>
      </p:sp>
      <p:sp>
        <p:nvSpPr>
          <p:cNvPr id="101" name="Google Shape;101;p14"/>
          <p:cNvSpPr txBox="1"/>
          <p:nvPr/>
        </p:nvSpPr>
        <p:spPr>
          <a:xfrm>
            <a:off x="1257300" y="4068960"/>
            <a:ext cx="4162425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No current IDE offers autonomous multi-agent pipelines locally.</a:t>
            </a:r>
            <a:endParaRPr/>
          </a:p>
        </p:txBody>
      </p:sp>
      <p:pic>
        <p:nvPicPr>
          <p:cNvPr descr="image.png" id="102" name="Google Shape;102;p14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772275" y="1920180"/>
            <a:ext cx="171450" cy="266700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14"/>
          <p:cNvSpPr txBox="1"/>
          <p:nvPr/>
        </p:nvSpPr>
        <p:spPr>
          <a:xfrm>
            <a:off x="7058025" y="2564010"/>
            <a:ext cx="4162425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Cursor ($20/mo) &amp; Copilot ($19/mo) are unaffordable for students.</a:t>
            </a:r>
            <a:endParaRPr/>
          </a:p>
        </p:txBody>
      </p:sp>
      <p:sp>
        <p:nvSpPr>
          <p:cNvPr id="104" name="Google Shape;104;p14"/>
          <p:cNvSpPr txBox="1"/>
          <p:nvPr/>
        </p:nvSpPr>
        <p:spPr>
          <a:xfrm>
            <a:off x="7058025" y="3316485"/>
            <a:ext cx="4162425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Existing AI IDEs require constant high-speed cloud connectivity.</a:t>
            </a:r>
            <a:endParaRPr/>
          </a:p>
        </p:txBody>
      </p:sp>
      <p:sp>
        <p:nvSpPr>
          <p:cNvPr id="105" name="Google Shape;105;p14"/>
          <p:cNvSpPr txBox="1"/>
          <p:nvPr/>
        </p:nvSpPr>
        <p:spPr>
          <a:xfrm>
            <a:off x="7058025" y="4068960"/>
            <a:ext cx="4162425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India's spotty internet in Tier 2/3 cities hinders adoption.</a:t>
            </a:r>
            <a:endParaRPr/>
          </a:p>
        </p:txBody>
      </p:sp>
      <p:sp>
        <p:nvSpPr>
          <p:cNvPr id="106" name="Google Shape;106;p14"/>
          <p:cNvSpPr txBox="1"/>
          <p:nvPr/>
        </p:nvSpPr>
        <p:spPr>
          <a:xfrm>
            <a:off x="971550" y="2564010"/>
            <a:ext cx="1143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B82F6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&gt;</a:t>
            </a:r>
            <a:endParaRPr/>
          </a:p>
        </p:txBody>
      </p:sp>
      <p:sp>
        <p:nvSpPr>
          <p:cNvPr id="107" name="Google Shape;107;p14"/>
          <p:cNvSpPr txBox="1"/>
          <p:nvPr/>
        </p:nvSpPr>
        <p:spPr>
          <a:xfrm>
            <a:off x="971550" y="3316485"/>
            <a:ext cx="1143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B82F6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&gt;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971550" y="4068960"/>
            <a:ext cx="1143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B82F6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&gt;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6772275" y="2564010"/>
            <a:ext cx="1143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B82F6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&gt;</a:t>
            </a:r>
            <a:endParaRPr/>
          </a:p>
        </p:txBody>
      </p:sp>
      <p:sp>
        <p:nvSpPr>
          <p:cNvPr id="110" name="Google Shape;110;p14"/>
          <p:cNvSpPr txBox="1"/>
          <p:nvPr/>
        </p:nvSpPr>
        <p:spPr>
          <a:xfrm>
            <a:off x="6772275" y="3316485"/>
            <a:ext cx="1143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B82F6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&gt;</a:t>
            </a:r>
            <a:endParaRPr/>
          </a:p>
        </p:txBody>
      </p:sp>
      <p:sp>
        <p:nvSpPr>
          <p:cNvPr id="111" name="Google Shape;111;p14"/>
          <p:cNvSpPr txBox="1"/>
          <p:nvPr/>
        </p:nvSpPr>
        <p:spPr>
          <a:xfrm>
            <a:off x="6772275" y="4068960"/>
            <a:ext cx="1143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B82F6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&gt;</a:t>
            </a:r>
            <a:endParaRPr/>
          </a:p>
        </p:txBody>
      </p:sp>
      <p:sp>
        <p:nvSpPr>
          <p:cNvPr id="112" name="Google Shape;112;p14"/>
          <p:cNvSpPr txBox="1"/>
          <p:nvPr/>
        </p:nvSpPr>
        <p:spPr>
          <a:xfrm>
            <a:off x="771525" y="581025"/>
            <a:ext cx="11381422" cy="5485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600" u="none" cap="none" strike="noStrike">
                <a:solidFill>
                  <a:srgbClr val="F8FAFC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The Problem: Fragmentation &amp; Cost</a:t>
            </a:r>
            <a:endParaRPr/>
          </a:p>
        </p:txBody>
      </p:sp>
      <p:sp>
        <p:nvSpPr>
          <p:cNvPr id="113" name="Google Shape;113;p14"/>
          <p:cNvSpPr/>
          <p:nvPr/>
        </p:nvSpPr>
        <p:spPr>
          <a:xfrm>
            <a:off x="581025" y="581025"/>
            <a:ext cx="47625" cy="54858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E293B"/>
        </a:solidFill>
      </p:bgPr>
    </p:bg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18" name="Google Shape;118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9" name="Google Shape;119;p15"/>
          <p:cNvSpPr txBox="1"/>
          <p:nvPr/>
        </p:nvSpPr>
        <p:spPr>
          <a:xfrm>
            <a:off x="962025" y="771525"/>
            <a:ext cx="4590573" cy="5485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600" u="none" cap="none" strike="noStrike">
                <a:solidFill>
                  <a:srgbClr val="F8FAFC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Impact on Bharat</a:t>
            </a:r>
            <a:endParaRPr/>
          </a:p>
        </p:txBody>
      </p:sp>
      <p:sp>
        <p:nvSpPr>
          <p:cNvPr id="120" name="Google Shape;120;p15"/>
          <p:cNvSpPr/>
          <p:nvPr/>
        </p:nvSpPr>
        <p:spPr>
          <a:xfrm>
            <a:off x="771525" y="771525"/>
            <a:ext cx="47625" cy="54858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121" name="Google Shape;121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96000" y="9525"/>
            <a:ext cx="6086475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5"/>
          <p:cNvSpPr txBox="1"/>
          <p:nvPr/>
        </p:nvSpPr>
        <p:spPr>
          <a:xfrm>
            <a:off x="771525" y="2146994"/>
            <a:ext cx="4562475" cy="7313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A855F7"/>
                </a:solidFill>
                <a:latin typeface="Inter"/>
                <a:ea typeface="Inter"/>
                <a:cs typeface="Inter"/>
                <a:sym typeface="Inter"/>
              </a:rPr>
              <a:t>9M+ Developers</a:t>
            </a:r>
            <a:r>
              <a:rPr b="0" i="0" lang="en-US" sz="180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are currently building in India, growing 20% YoY.</a:t>
            </a:r>
            <a:endParaRPr/>
          </a:p>
        </p:txBody>
      </p:sp>
      <p:sp>
        <p:nvSpPr>
          <p:cNvPr id="123" name="Google Shape;123;p15"/>
          <p:cNvSpPr txBox="1"/>
          <p:nvPr/>
        </p:nvSpPr>
        <p:spPr>
          <a:xfrm>
            <a:off x="771525" y="3221235"/>
            <a:ext cx="4562475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333375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1.5M+ CS Graduates</a:t>
            </a:r>
            <a:r>
              <a:rPr b="0" i="0" lang="en-US" sz="150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annually needing mentorship.</a:t>
            </a:r>
            <a:endParaRPr/>
          </a:p>
        </p:txBody>
      </p:sp>
      <p:sp>
        <p:nvSpPr>
          <p:cNvPr id="124" name="Google Shape;124;p15"/>
          <p:cNvSpPr txBox="1"/>
          <p:nvPr/>
        </p:nvSpPr>
        <p:spPr>
          <a:xfrm>
            <a:off x="771525" y="4021335"/>
            <a:ext cx="4562475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333375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Tier 2/3 Developers</a:t>
            </a:r>
            <a:r>
              <a:rPr b="0" i="0" lang="en-US" sz="150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lack access to senior guidance.</a:t>
            </a:r>
            <a:endParaRPr/>
          </a:p>
        </p:txBody>
      </p:sp>
      <p:sp>
        <p:nvSpPr>
          <p:cNvPr id="125" name="Google Shape;125;p15"/>
          <p:cNvSpPr txBox="1"/>
          <p:nvPr/>
        </p:nvSpPr>
        <p:spPr>
          <a:xfrm>
            <a:off x="771525" y="4821435"/>
            <a:ext cx="4562475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333375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2M+ Freelancers</a:t>
            </a:r>
            <a:r>
              <a:rPr b="0" i="0" lang="en-US" sz="150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need tools to boost output 3-5x.</a:t>
            </a:r>
            <a:endParaRPr/>
          </a:p>
        </p:txBody>
      </p:sp>
      <p:pic>
        <p:nvPicPr>
          <p:cNvPr descr="image.png" id="126" name="Google Shape;126;p1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71525" y="3273623"/>
            <a:ext cx="23812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7" name="Google Shape;127;p15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1525" y="4073723"/>
            <a:ext cx="23812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8" name="Google Shape;128;p15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771525" y="4873823"/>
            <a:ext cx="23812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15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6236000" y="9525"/>
            <a:ext cx="5946476" cy="6857999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15"/>
          <p:cNvSpPr txBox="1"/>
          <p:nvPr/>
        </p:nvSpPr>
        <p:spPr>
          <a:xfrm>
            <a:off x="6421827" y="223837"/>
            <a:ext cx="3657900" cy="421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02725" lIns="102725" spcFirstLastPara="1" rIns="102725" wrap="square" tIns="1027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72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E293B"/>
        </a:solidFill>
      </p:bgPr>
    </p:bg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35" name="Google Shape;135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36" name="Google Shape;13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1025" y="1890712"/>
            <a:ext cx="3486150" cy="40061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37" name="Google Shape;137;p1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352925" y="1890712"/>
            <a:ext cx="3486150" cy="40061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38" name="Google Shape;138;p1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124825" y="1890712"/>
            <a:ext cx="3486150" cy="40061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39" name="Google Shape;139;p1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1895475" y="2185987"/>
            <a:ext cx="857250" cy="857250"/>
          </a:xfrm>
          <a:prstGeom prst="rect">
            <a:avLst/>
          </a:prstGeom>
          <a:noFill/>
          <a:ln>
            <a:noFill/>
          </a:ln>
        </p:spPr>
      </p:pic>
      <p:sp>
        <p:nvSpPr>
          <p:cNvPr id="140" name="Google Shape;140;p16"/>
          <p:cNvSpPr txBox="1"/>
          <p:nvPr/>
        </p:nvSpPr>
        <p:spPr>
          <a:xfrm>
            <a:off x="1834038" y="3233737"/>
            <a:ext cx="980122" cy="3199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100" u="none" cap="none" strike="noStrike">
                <a:solidFill>
                  <a:srgbClr val="E2E8F0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Full IDE</a:t>
            </a:r>
            <a:endParaRPr/>
          </a:p>
        </p:txBody>
      </p:sp>
      <p:sp>
        <p:nvSpPr>
          <p:cNvPr id="141" name="Google Shape;141;p16"/>
          <p:cNvSpPr txBox="1"/>
          <p:nvPr/>
        </p:nvSpPr>
        <p:spPr>
          <a:xfrm>
            <a:off x="876300" y="3887092"/>
            <a:ext cx="28956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A complete replacement for VS Code. Built-in Terminal, Git, and Debugger. Supports 35+ languages with 14 premium themes.</a:t>
            </a:r>
            <a:endParaRPr/>
          </a:p>
        </p:txBody>
      </p:sp>
      <p:pic>
        <p:nvPicPr>
          <p:cNvPr descr="image.png" id="142" name="Google Shape;142;p16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5667375" y="2185987"/>
            <a:ext cx="857250" cy="857250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16"/>
          <p:cNvSpPr txBox="1"/>
          <p:nvPr/>
        </p:nvSpPr>
        <p:spPr>
          <a:xfrm>
            <a:off x="5460920" y="3233737"/>
            <a:ext cx="1270158" cy="3199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100" u="none" cap="none" strike="noStrike">
                <a:solidFill>
                  <a:srgbClr val="E2E8F0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AI-Native</a:t>
            </a:r>
            <a:endParaRPr/>
          </a:p>
        </p:txBody>
      </p:sp>
      <p:sp>
        <p:nvSpPr>
          <p:cNvPr id="144" name="Google Shape;144;p16"/>
          <p:cNvSpPr txBox="1"/>
          <p:nvPr/>
        </p:nvSpPr>
        <p:spPr>
          <a:xfrm>
            <a:off x="4648200" y="3887092"/>
            <a:ext cx="28956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Ghost completions, Smart Documentation (Option+Click), and Command Bar (⌘K). AI explains errors and fixes them with one click.</a:t>
            </a:r>
            <a:endParaRPr/>
          </a:p>
        </p:txBody>
      </p:sp>
      <p:pic>
        <p:nvPicPr>
          <p:cNvPr descr="image.png" id="145" name="Google Shape;145;p16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9439275" y="2185987"/>
            <a:ext cx="857250" cy="857250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6"/>
          <p:cNvSpPr txBox="1"/>
          <p:nvPr/>
        </p:nvSpPr>
        <p:spPr>
          <a:xfrm>
            <a:off x="8697753" y="3233737"/>
            <a:ext cx="2340292" cy="3199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100" u="none" cap="none" strike="noStrike">
                <a:solidFill>
                  <a:srgbClr val="E2E8F0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Agentic Pipelines</a:t>
            </a:r>
            <a:endParaRPr/>
          </a:p>
        </p:txBody>
      </p:sp>
      <p:sp>
        <p:nvSpPr>
          <p:cNvPr id="147" name="Google Shape;147;p16"/>
          <p:cNvSpPr txBox="1"/>
          <p:nvPr/>
        </p:nvSpPr>
        <p:spPr>
          <a:xfrm>
            <a:off x="8420100" y="3887092"/>
            <a:ext cx="28956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Autonomous agents that Research, Architect, Code, and QA your software. Like having a senior developer pair-programming with you.</a:t>
            </a:r>
            <a:endParaRPr/>
          </a:p>
        </p:txBody>
      </p:sp>
      <p:pic>
        <p:nvPicPr>
          <p:cNvPr descr="image.png" id="148" name="Google Shape;148;p16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2038350" y="2386012"/>
            <a:ext cx="57150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49" name="Google Shape;149;p16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5810250" y="2386012"/>
            <a:ext cx="57150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50" name="Google Shape;150;p16"/>
          <p:cNvPicPr preferRelativeResize="0"/>
          <p:nvPr/>
        </p:nvPicPr>
        <p:blipFill rotWithShape="1">
          <a:blip r:embed="rId12">
            <a:alphaModFix/>
          </a:blip>
          <a:srcRect b="0" l="0" r="0" t="0"/>
          <a:stretch/>
        </p:blipFill>
        <p:spPr>
          <a:xfrm>
            <a:off x="9582150" y="2386012"/>
            <a:ext cx="5715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151" name="Google Shape;151;p16"/>
          <p:cNvSpPr txBox="1"/>
          <p:nvPr/>
        </p:nvSpPr>
        <p:spPr>
          <a:xfrm>
            <a:off x="771525" y="581025"/>
            <a:ext cx="11381422" cy="5485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600" u="none" cap="none" strike="noStrike">
                <a:solidFill>
                  <a:srgbClr val="F8FAFC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The Solution: SupaDev</a:t>
            </a:r>
            <a:endParaRPr/>
          </a:p>
        </p:txBody>
      </p:sp>
      <p:sp>
        <p:nvSpPr>
          <p:cNvPr id="152" name="Google Shape;152;p16"/>
          <p:cNvSpPr/>
          <p:nvPr/>
        </p:nvSpPr>
        <p:spPr>
          <a:xfrm>
            <a:off x="581025" y="581025"/>
            <a:ext cx="47625" cy="54858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E293B"/>
        </a:solidFill>
      </p:bgPr>
    </p:bg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57" name="Google Shape;157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58" name="Google Shape;158;p1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1025" y="4343251"/>
            <a:ext cx="11029950" cy="3810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17"/>
          <p:cNvSpPr/>
          <p:nvPr/>
        </p:nvSpPr>
        <p:spPr>
          <a:xfrm>
            <a:off x="1509117" y="4248001"/>
            <a:ext cx="228600" cy="228600"/>
          </a:xfrm>
          <a:prstGeom prst="roundRect">
            <a:avLst>
              <a:gd fmla="val 50000" name="adj"/>
            </a:avLst>
          </a:prstGeom>
          <a:solidFill>
            <a:srgbClr val="0F172A"/>
          </a:solidFill>
          <a:ln cap="flat" cmpd="sng" w="38100">
            <a:solidFill>
              <a:srgbClr val="A855F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17"/>
          <p:cNvSpPr/>
          <p:nvPr/>
        </p:nvSpPr>
        <p:spPr>
          <a:xfrm>
            <a:off x="3298031" y="4248001"/>
            <a:ext cx="228600" cy="228600"/>
          </a:xfrm>
          <a:prstGeom prst="roundRect">
            <a:avLst>
              <a:gd fmla="val 50000" name="adj"/>
            </a:avLst>
          </a:prstGeom>
          <a:solidFill>
            <a:srgbClr val="0F172A"/>
          </a:solidFill>
          <a:ln cap="flat" cmpd="sng" w="38100">
            <a:solidFill>
              <a:srgbClr val="A855F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17"/>
          <p:cNvSpPr/>
          <p:nvPr/>
        </p:nvSpPr>
        <p:spPr>
          <a:xfrm>
            <a:off x="5086945" y="4248001"/>
            <a:ext cx="228600" cy="228600"/>
          </a:xfrm>
          <a:prstGeom prst="roundRect">
            <a:avLst>
              <a:gd fmla="val 50000" name="adj"/>
            </a:avLst>
          </a:prstGeom>
          <a:solidFill>
            <a:srgbClr val="0F172A"/>
          </a:solidFill>
          <a:ln cap="flat" cmpd="sng" w="38100">
            <a:solidFill>
              <a:srgbClr val="A855F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17"/>
          <p:cNvSpPr/>
          <p:nvPr/>
        </p:nvSpPr>
        <p:spPr>
          <a:xfrm>
            <a:off x="6875859" y="4248001"/>
            <a:ext cx="228600" cy="228600"/>
          </a:xfrm>
          <a:prstGeom prst="roundRect">
            <a:avLst>
              <a:gd fmla="val 50000" name="adj"/>
            </a:avLst>
          </a:prstGeom>
          <a:solidFill>
            <a:srgbClr val="0F172A"/>
          </a:solidFill>
          <a:ln cap="flat" cmpd="sng" w="38100">
            <a:solidFill>
              <a:srgbClr val="A855F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17"/>
          <p:cNvSpPr/>
          <p:nvPr/>
        </p:nvSpPr>
        <p:spPr>
          <a:xfrm>
            <a:off x="8664773" y="4248001"/>
            <a:ext cx="228600" cy="228600"/>
          </a:xfrm>
          <a:prstGeom prst="roundRect">
            <a:avLst>
              <a:gd fmla="val 50000" name="adj"/>
            </a:avLst>
          </a:prstGeom>
          <a:solidFill>
            <a:srgbClr val="0F172A"/>
          </a:solidFill>
          <a:ln cap="flat" cmpd="sng" w="38100">
            <a:solidFill>
              <a:srgbClr val="A855F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17"/>
          <p:cNvSpPr/>
          <p:nvPr/>
        </p:nvSpPr>
        <p:spPr>
          <a:xfrm>
            <a:off x="10453687" y="4248001"/>
            <a:ext cx="228600" cy="228600"/>
          </a:xfrm>
          <a:prstGeom prst="roundRect">
            <a:avLst>
              <a:gd fmla="val 50000" name="adj"/>
            </a:avLst>
          </a:prstGeom>
          <a:solidFill>
            <a:srgbClr val="0F172A"/>
          </a:solidFill>
          <a:ln cap="flat" cmpd="sng" w="38100">
            <a:solidFill>
              <a:srgbClr val="A855F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17"/>
          <p:cNvSpPr txBox="1"/>
          <p:nvPr/>
        </p:nvSpPr>
        <p:spPr>
          <a:xfrm>
            <a:off x="2633662" y="1510605"/>
            <a:ext cx="6924675" cy="3656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The Key Differentiator: Autonomous software development flow.</a:t>
            </a:r>
            <a:endParaRPr/>
          </a:p>
        </p:txBody>
      </p:sp>
      <p:sp>
        <p:nvSpPr>
          <p:cNvPr id="166" name="Google Shape;166;p17"/>
          <p:cNvSpPr txBox="1"/>
          <p:nvPr/>
        </p:nvSpPr>
        <p:spPr>
          <a:xfrm>
            <a:off x="371225" y="4743301"/>
            <a:ext cx="2504531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F8FAFC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Research</a:t>
            </a:r>
            <a:endParaRPr/>
          </a:p>
        </p:txBody>
      </p:sp>
      <p:sp>
        <p:nvSpPr>
          <p:cNvPr id="167" name="Google Shape;167;p17"/>
          <p:cNvSpPr txBox="1"/>
          <p:nvPr/>
        </p:nvSpPr>
        <p:spPr>
          <a:xfrm>
            <a:off x="430857" y="5105251"/>
            <a:ext cx="2385268" cy="1866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Finds best practices</a:t>
            </a:r>
            <a:endParaRPr/>
          </a:p>
        </p:txBody>
      </p:sp>
      <p:sp>
        <p:nvSpPr>
          <p:cNvPr id="168" name="Google Shape;168;p17"/>
          <p:cNvSpPr txBox="1"/>
          <p:nvPr/>
        </p:nvSpPr>
        <p:spPr>
          <a:xfrm>
            <a:off x="2160139" y="3299370"/>
            <a:ext cx="2504531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F8FAFC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Architect</a:t>
            </a:r>
            <a:endParaRPr/>
          </a:p>
        </p:txBody>
      </p:sp>
      <p:sp>
        <p:nvSpPr>
          <p:cNvPr id="169" name="Google Shape;169;p17"/>
          <p:cNvSpPr txBox="1"/>
          <p:nvPr/>
        </p:nvSpPr>
        <p:spPr>
          <a:xfrm>
            <a:off x="2219771" y="3661320"/>
            <a:ext cx="2385268" cy="1866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Designs structure</a:t>
            </a:r>
            <a:endParaRPr/>
          </a:p>
        </p:txBody>
      </p:sp>
      <p:sp>
        <p:nvSpPr>
          <p:cNvPr id="170" name="Google Shape;170;p17"/>
          <p:cNvSpPr txBox="1"/>
          <p:nvPr/>
        </p:nvSpPr>
        <p:spPr>
          <a:xfrm>
            <a:off x="3949053" y="4743301"/>
            <a:ext cx="2504531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F8FAFC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Coder</a:t>
            </a:r>
            <a:endParaRPr/>
          </a:p>
        </p:txBody>
      </p:sp>
      <p:sp>
        <p:nvSpPr>
          <p:cNvPr id="171" name="Google Shape;171;p17"/>
          <p:cNvSpPr txBox="1"/>
          <p:nvPr/>
        </p:nvSpPr>
        <p:spPr>
          <a:xfrm>
            <a:off x="4008685" y="5105251"/>
            <a:ext cx="2385268" cy="1866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Writes actual code</a:t>
            </a:r>
            <a:endParaRPr/>
          </a:p>
        </p:txBody>
      </p:sp>
      <p:sp>
        <p:nvSpPr>
          <p:cNvPr id="172" name="Google Shape;172;p17"/>
          <p:cNvSpPr txBox="1"/>
          <p:nvPr/>
        </p:nvSpPr>
        <p:spPr>
          <a:xfrm>
            <a:off x="5737967" y="3299370"/>
            <a:ext cx="2504531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F8FAFC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Verify</a:t>
            </a:r>
            <a:endParaRPr/>
          </a:p>
        </p:txBody>
      </p:sp>
      <p:sp>
        <p:nvSpPr>
          <p:cNvPr id="173" name="Google Shape;173;p17"/>
          <p:cNvSpPr txBox="1"/>
          <p:nvPr/>
        </p:nvSpPr>
        <p:spPr>
          <a:xfrm>
            <a:off x="5797599" y="3661320"/>
            <a:ext cx="2385268" cy="1866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Auto-build checks</a:t>
            </a:r>
            <a:endParaRPr/>
          </a:p>
        </p:txBody>
      </p:sp>
      <p:sp>
        <p:nvSpPr>
          <p:cNvPr id="174" name="Google Shape;174;p17"/>
          <p:cNvSpPr txBox="1"/>
          <p:nvPr/>
        </p:nvSpPr>
        <p:spPr>
          <a:xfrm>
            <a:off x="7526881" y="4743301"/>
            <a:ext cx="2504531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F8FAFC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QA</a:t>
            </a:r>
            <a:endParaRPr/>
          </a:p>
        </p:txBody>
      </p:sp>
      <p:sp>
        <p:nvSpPr>
          <p:cNvPr id="175" name="Google Shape;175;p17"/>
          <p:cNvSpPr txBox="1"/>
          <p:nvPr/>
        </p:nvSpPr>
        <p:spPr>
          <a:xfrm>
            <a:off x="7586513" y="5105251"/>
            <a:ext cx="2385268" cy="1866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Reviews quality</a:t>
            </a:r>
            <a:endParaRPr/>
          </a:p>
        </p:txBody>
      </p:sp>
      <p:sp>
        <p:nvSpPr>
          <p:cNvPr id="176" name="Google Shape;176;p17"/>
          <p:cNvSpPr txBox="1"/>
          <p:nvPr/>
        </p:nvSpPr>
        <p:spPr>
          <a:xfrm>
            <a:off x="9315796" y="3299370"/>
            <a:ext cx="2504531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F8FAFC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Human</a:t>
            </a:r>
            <a:endParaRPr/>
          </a:p>
        </p:txBody>
      </p:sp>
      <p:sp>
        <p:nvSpPr>
          <p:cNvPr id="177" name="Google Shape;177;p17"/>
          <p:cNvSpPr txBox="1"/>
          <p:nvPr/>
        </p:nvSpPr>
        <p:spPr>
          <a:xfrm>
            <a:off x="9375427" y="3661320"/>
            <a:ext cx="2385268" cy="1866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Approve or Reject</a:t>
            </a:r>
            <a:endParaRPr/>
          </a:p>
        </p:txBody>
      </p:sp>
      <p:sp>
        <p:nvSpPr>
          <p:cNvPr id="178" name="Google Shape;178;p17"/>
          <p:cNvSpPr txBox="1"/>
          <p:nvPr/>
        </p:nvSpPr>
        <p:spPr>
          <a:xfrm>
            <a:off x="771525" y="581025"/>
            <a:ext cx="11381422" cy="5485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600" u="none" cap="none" strike="noStrike">
                <a:solidFill>
                  <a:srgbClr val="F8FAFC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6-Stage Agentic Pipeline</a:t>
            </a:r>
            <a:endParaRPr/>
          </a:p>
        </p:txBody>
      </p:sp>
      <p:sp>
        <p:nvSpPr>
          <p:cNvPr id="179" name="Google Shape;179;p17"/>
          <p:cNvSpPr/>
          <p:nvPr/>
        </p:nvSpPr>
        <p:spPr>
          <a:xfrm>
            <a:off x="581025" y="581025"/>
            <a:ext cx="47625" cy="54858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E293B"/>
        </a:solidFill>
      </p:bgPr>
    </p:bg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84" name="Google Shape;184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85" name="Google Shape;185;p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1025" y="1011584"/>
            <a:ext cx="5229225" cy="273933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86" name="Google Shape;186;p1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381750" y="1011584"/>
            <a:ext cx="5229225" cy="273933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87" name="Google Shape;187;p1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81025" y="4036665"/>
            <a:ext cx="5229225" cy="273933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88" name="Google Shape;188;p18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381750" y="4036665"/>
            <a:ext cx="5229225" cy="2739330"/>
          </a:xfrm>
          <a:prstGeom prst="rect">
            <a:avLst/>
          </a:prstGeom>
          <a:noFill/>
          <a:ln>
            <a:noFill/>
          </a:ln>
        </p:spPr>
      </p:pic>
      <p:sp>
        <p:nvSpPr>
          <p:cNvPr id="189" name="Google Shape;189;p18"/>
          <p:cNvSpPr txBox="1"/>
          <p:nvPr/>
        </p:nvSpPr>
        <p:spPr>
          <a:xfrm>
            <a:off x="971550" y="1402109"/>
            <a:ext cx="4670583" cy="32950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200025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100" u="none" cap="none" strike="noStrike">
                <a:solidFill>
                  <a:srgbClr val="A855F7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Ghost Completions</a:t>
            </a:r>
            <a:endParaRPr/>
          </a:p>
        </p:txBody>
      </p:sp>
      <p:sp>
        <p:nvSpPr>
          <p:cNvPr id="190" name="Google Shape;190;p18"/>
          <p:cNvSpPr/>
          <p:nvPr/>
        </p:nvSpPr>
        <p:spPr>
          <a:xfrm>
            <a:off x="971550" y="1864965"/>
            <a:ext cx="4448175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18"/>
          <p:cNvSpPr txBox="1"/>
          <p:nvPr/>
        </p:nvSpPr>
        <p:spPr>
          <a:xfrm>
            <a:off x="971550" y="2255490"/>
            <a:ext cx="444817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Context-aware code suggestions that appear as you type. Simply press Tab to accept complex logic blocks instantly.</a:t>
            </a:r>
            <a:endParaRPr/>
          </a:p>
        </p:txBody>
      </p:sp>
      <p:sp>
        <p:nvSpPr>
          <p:cNvPr id="192" name="Google Shape;192;p18"/>
          <p:cNvSpPr txBox="1"/>
          <p:nvPr/>
        </p:nvSpPr>
        <p:spPr>
          <a:xfrm>
            <a:off x="6772275" y="1402109"/>
            <a:ext cx="4670583" cy="32950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30480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100" u="none" cap="none" strike="noStrike">
                <a:solidFill>
                  <a:srgbClr val="A855F7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⌘K Command Bar</a:t>
            </a:r>
            <a:endParaRPr/>
          </a:p>
        </p:txBody>
      </p:sp>
      <p:sp>
        <p:nvSpPr>
          <p:cNvPr id="193" name="Google Shape;193;p18"/>
          <p:cNvSpPr/>
          <p:nvPr/>
        </p:nvSpPr>
        <p:spPr>
          <a:xfrm>
            <a:off x="6772275" y="1864965"/>
            <a:ext cx="4448175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18"/>
          <p:cNvSpPr txBox="1"/>
          <p:nvPr/>
        </p:nvSpPr>
        <p:spPr>
          <a:xfrm>
            <a:off x="6772275" y="2255490"/>
            <a:ext cx="444817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Natural Language to Code. "Make this button blue and add a bounce animation" -&gt; SupaDev writes the CSS/SwiftUI code.</a:t>
            </a:r>
            <a:endParaRPr/>
          </a:p>
        </p:txBody>
      </p:sp>
      <p:sp>
        <p:nvSpPr>
          <p:cNvPr id="195" name="Google Shape;195;p18"/>
          <p:cNvSpPr txBox="1"/>
          <p:nvPr/>
        </p:nvSpPr>
        <p:spPr>
          <a:xfrm>
            <a:off x="971550" y="4427190"/>
            <a:ext cx="4670583" cy="32950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30480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100" u="none" cap="none" strike="noStrike">
                <a:solidFill>
                  <a:srgbClr val="A855F7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AI Error Fix</a:t>
            </a:r>
            <a:endParaRPr/>
          </a:p>
        </p:txBody>
      </p:sp>
      <p:sp>
        <p:nvSpPr>
          <p:cNvPr id="196" name="Google Shape;196;p18"/>
          <p:cNvSpPr/>
          <p:nvPr/>
        </p:nvSpPr>
        <p:spPr>
          <a:xfrm>
            <a:off x="971550" y="4890045"/>
            <a:ext cx="4448175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18"/>
          <p:cNvSpPr txBox="1"/>
          <p:nvPr/>
        </p:nvSpPr>
        <p:spPr>
          <a:xfrm>
            <a:off x="971550" y="5280570"/>
            <a:ext cx="444817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Build failed? Click the sparkle icon. SupaDev analyzes the compiler error and applies a one-click fix with a diff review.</a:t>
            </a:r>
            <a:endParaRPr/>
          </a:p>
        </p:txBody>
      </p:sp>
      <p:sp>
        <p:nvSpPr>
          <p:cNvPr id="198" name="Google Shape;198;p18"/>
          <p:cNvSpPr txBox="1"/>
          <p:nvPr/>
        </p:nvSpPr>
        <p:spPr>
          <a:xfrm>
            <a:off x="6772275" y="4427190"/>
            <a:ext cx="4670583" cy="32950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30480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100" u="none" cap="none" strike="noStrike">
                <a:solidFill>
                  <a:srgbClr val="A855F7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Smart Docs</a:t>
            </a:r>
            <a:endParaRPr/>
          </a:p>
        </p:txBody>
      </p:sp>
      <p:sp>
        <p:nvSpPr>
          <p:cNvPr id="199" name="Google Shape;199;p18"/>
          <p:cNvSpPr/>
          <p:nvPr/>
        </p:nvSpPr>
        <p:spPr>
          <a:xfrm>
            <a:off x="6772275" y="4890045"/>
            <a:ext cx="4448175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18"/>
          <p:cNvSpPr txBox="1"/>
          <p:nvPr/>
        </p:nvSpPr>
        <p:spPr>
          <a:xfrm>
            <a:off x="6772275" y="5280570"/>
            <a:ext cx="444817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Option+Click any function to see AI-generated documentation, parameter explanations, and usage examples instantly.</a:t>
            </a:r>
            <a:endParaRPr/>
          </a:p>
        </p:txBody>
      </p:sp>
      <p:pic>
        <p:nvPicPr>
          <p:cNvPr descr="image.png" id="201" name="Google Shape;201;p18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971550" y="1421159"/>
            <a:ext cx="200025" cy="2667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02" name="Google Shape;202;p18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772275" y="1421159"/>
            <a:ext cx="304800" cy="2667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03" name="Google Shape;203;p18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971550" y="4446240"/>
            <a:ext cx="304800" cy="2667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04" name="Google Shape;204;p18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6772275" y="4446240"/>
            <a:ext cx="304800" cy="266700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18"/>
          <p:cNvSpPr txBox="1"/>
          <p:nvPr/>
        </p:nvSpPr>
        <p:spPr>
          <a:xfrm>
            <a:off x="771525" y="82004"/>
            <a:ext cx="11381422" cy="5485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600" u="none" cap="none" strike="noStrike">
                <a:solidFill>
                  <a:srgbClr val="F8FAFC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Beyond Autocomplete</a:t>
            </a:r>
            <a:endParaRPr/>
          </a:p>
        </p:txBody>
      </p:sp>
      <p:sp>
        <p:nvSpPr>
          <p:cNvPr id="206" name="Google Shape;206;p18"/>
          <p:cNvSpPr/>
          <p:nvPr/>
        </p:nvSpPr>
        <p:spPr>
          <a:xfrm>
            <a:off x="581025" y="82004"/>
            <a:ext cx="47625" cy="54858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E293B"/>
        </a:solidFill>
      </p:bgPr>
    </p:bg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11" name="Google Shape;211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19"/>
          <p:cNvSpPr txBox="1"/>
          <p:nvPr/>
        </p:nvSpPr>
        <p:spPr>
          <a:xfrm>
            <a:off x="7048500" y="771525"/>
            <a:ext cx="4590573" cy="5485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600" u="none" cap="none" strike="noStrike">
                <a:solidFill>
                  <a:srgbClr val="F8FAFC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Professional-Grade</a:t>
            </a:r>
            <a:endParaRPr/>
          </a:p>
        </p:txBody>
      </p:sp>
      <p:sp>
        <p:nvSpPr>
          <p:cNvPr id="213" name="Google Shape;213;p19"/>
          <p:cNvSpPr/>
          <p:nvPr/>
        </p:nvSpPr>
        <p:spPr>
          <a:xfrm>
            <a:off x="6858000" y="771525"/>
            <a:ext cx="47625" cy="54858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" name="Google Shape;214;p19"/>
          <p:cNvSpPr txBox="1"/>
          <p:nvPr/>
        </p:nvSpPr>
        <p:spPr>
          <a:xfrm>
            <a:off x="6858000" y="1720155"/>
            <a:ext cx="4533900" cy="3656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Not a toy. A full IDE supercharged with AI.</a:t>
            </a:r>
            <a:endParaRPr/>
          </a:p>
        </p:txBody>
      </p:sp>
      <p:sp>
        <p:nvSpPr>
          <p:cNvPr id="215" name="Google Shape;215;p19"/>
          <p:cNvSpPr txBox="1"/>
          <p:nvPr/>
        </p:nvSpPr>
        <p:spPr>
          <a:xfrm>
            <a:off x="6858000" y="2523976"/>
            <a:ext cx="4562475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A855F7"/>
                </a:solidFill>
                <a:latin typeface="Inter"/>
                <a:ea typeface="Inter"/>
                <a:cs typeface="Inter"/>
                <a:sym typeface="Inter"/>
              </a:rPr>
              <a:t>Tree-sitter Syntax:</a:t>
            </a:r>
            <a:r>
              <a:rPr b="0" i="0" lang="en-US" sz="150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High-performance highlighting for 35+ languages.</a:t>
            </a:r>
            <a:endParaRPr/>
          </a:p>
        </p:txBody>
      </p:sp>
      <p:sp>
        <p:nvSpPr>
          <p:cNvPr id="216" name="Google Shape;216;p19"/>
          <p:cNvSpPr txBox="1"/>
          <p:nvPr/>
        </p:nvSpPr>
        <p:spPr>
          <a:xfrm>
            <a:off x="6858000" y="3371701"/>
            <a:ext cx="4562475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A855F7"/>
                </a:solidFill>
                <a:latin typeface="Inter"/>
                <a:ea typeface="Inter"/>
                <a:cs typeface="Inter"/>
                <a:sym typeface="Inter"/>
              </a:rPr>
              <a:t>Git Integration:</a:t>
            </a:r>
            <a:r>
              <a:rPr b="0" i="0" lang="en-US" sz="150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Visual commit graph, blame with Gravatar, and hunk-level staging.</a:t>
            </a:r>
            <a:endParaRPr/>
          </a:p>
        </p:txBody>
      </p:sp>
      <p:sp>
        <p:nvSpPr>
          <p:cNvPr id="217" name="Google Shape;217;p19"/>
          <p:cNvSpPr txBox="1"/>
          <p:nvPr/>
        </p:nvSpPr>
        <p:spPr>
          <a:xfrm>
            <a:off x="6858000" y="4219426"/>
            <a:ext cx="4562475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A855F7"/>
                </a:solidFill>
                <a:latin typeface="Inter"/>
                <a:ea typeface="Inter"/>
                <a:cs typeface="Inter"/>
                <a:sym typeface="Inter"/>
              </a:rPr>
              <a:t>LLDB Debugger:</a:t>
            </a:r>
            <a:r>
              <a:rPr b="0" i="0" lang="en-US" sz="150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Full breakpoint support, variable inspection, and debug console.</a:t>
            </a:r>
            <a:endParaRPr/>
          </a:p>
        </p:txBody>
      </p:sp>
      <p:sp>
        <p:nvSpPr>
          <p:cNvPr id="218" name="Google Shape;218;p19"/>
          <p:cNvSpPr txBox="1"/>
          <p:nvPr/>
        </p:nvSpPr>
        <p:spPr>
          <a:xfrm>
            <a:off x="6858000" y="5067151"/>
            <a:ext cx="4562475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A855F7"/>
                </a:solidFill>
                <a:latin typeface="Inter"/>
                <a:ea typeface="Inter"/>
                <a:cs typeface="Inter"/>
                <a:sym typeface="Inter"/>
              </a:rPr>
              <a:t>Build &amp; Run:</a:t>
            </a:r>
            <a:r>
              <a:rPr b="0" i="0" lang="en-US" sz="150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One-click execution for Swift, Node, Python, Rust, and Go.</a:t>
            </a:r>
            <a:endParaRPr/>
          </a:p>
        </p:txBody>
      </p:sp>
      <p:pic>
        <p:nvPicPr>
          <p:cNvPr id="219" name="Google Shape;219;p1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6715124" cy="6858001"/>
          </a:xfrm>
          <a:prstGeom prst="rect">
            <a:avLst/>
          </a:prstGeom>
          <a:noFill/>
          <a:ln>
            <a:noFill/>
          </a:ln>
        </p:spPr>
      </p:pic>
      <p:sp>
        <p:nvSpPr>
          <p:cNvPr id="220" name="Google Shape;220;p19"/>
          <p:cNvSpPr txBox="1"/>
          <p:nvPr/>
        </p:nvSpPr>
        <p:spPr>
          <a:xfrm>
            <a:off x="357485" y="357485"/>
            <a:ext cx="4037100" cy="4037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3025" lIns="123025" spcFirstLastPara="1" rIns="123025" wrap="square" tIns="1230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83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E293B"/>
        </a:solidFill>
      </p:bgPr>
    </p:bg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25" name="Google Shape;225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26" name="Google Shape;226;p2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1025" y="1510605"/>
            <a:ext cx="5229225" cy="476636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27" name="Google Shape;227;p2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381750" y="1510605"/>
            <a:ext cx="5229225" cy="4766369"/>
          </a:xfrm>
          <a:prstGeom prst="rect">
            <a:avLst/>
          </a:prstGeom>
          <a:noFill/>
          <a:ln>
            <a:noFill/>
          </a:ln>
        </p:spPr>
      </p:pic>
      <p:sp>
        <p:nvSpPr>
          <p:cNvPr id="228" name="Google Shape;228;p20"/>
          <p:cNvSpPr txBox="1"/>
          <p:nvPr/>
        </p:nvSpPr>
        <p:spPr>
          <a:xfrm>
            <a:off x="971550" y="1901130"/>
            <a:ext cx="4670583" cy="32950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30480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100" u="none" cap="none" strike="noStrike">
                <a:solidFill>
                  <a:srgbClr val="A855F7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SupaDev IDE</a:t>
            </a:r>
            <a:endParaRPr/>
          </a:p>
        </p:txBody>
      </p:sp>
      <p:sp>
        <p:nvSpPr>
          <p:cNvPr id="229" name="Google Shape;229;p20"/>
          <p:cNvSpPr/>
          <p:nvPr/>
        </p:nvSpPr>
        <p:spPr>
          <a:xfrm>
            <a:off x="971550" y="2363985"/>
            <a:ext cx="4448175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20"/>
          <p:cNvSpPr txBox="1"/>
          <p:nvPr/>
        </p:nvSpPr>
        <p:spPr>
          <a:xfrm>
            <a:off x="971550" y="2735460"/>
            <a:ext cx="4448175" cy="2742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Native SwiftUI + AppKit</a:t>
            </a:r>
            <a:endParaRPr/>
          </a:p>
        </p:txBody>
      </p:sp>
      <p:sp>
        <p:nvSpPr>
          <p:cNvPr id="231" name="Google Shape;231;p20"/>
          <p:cNvSpPr txBox="1"/>
          <p:nvPr/>
        </p:nvSpPr>
        <p:spPr>
          <a:xfrm>
            <a:off x="6772275" y="1901130"/>
            <a:ext cx="4670583" cy="32950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26670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100" u="none" cap="none" strike="noStrike">
                <a:solidFill>
                  <a:srgbClr val="A855F7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VaultBot Gateway</a:t>
            </a:r>
            <a:endParaRPr/>
          </a:p>
        </p:txBody>
      </p:sp>
      <p:sp>
        <p:nvSpPr>
          <p:cNvPr id="232" name="Google Shape;232;p20"/>
          <p:cNvSpPr/>
          <p:nvPr/>
        </p:nvSpPr>
        <p:spPr>
          <a:xfrm>
            <a:off x="6772275" y="2363985"/>
            <a:ext cx="4448175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20"/>
          <p:cNvSpPr txBox="1"/>
          <p:nvPr/>
        </p:nvSpPr>
        <p:spPr>
          <a:xfrm>
            <a:off x="6772275" y="2735460"/>
            <a:ext cx="4448175" cy="2742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Node.js + WebSocket (Localhost)</a:t>
            </a:r>
            <a:endParaRPr/>
          </a:p>
        </p:txBody>
      </p:sp>
      <p:pic>
        <p:nvPicPr>
          <p:cNvPr descr="image.png" id="234" name="Google Shape;234;p20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971550" y="1920180"/>
            <a:ext cx="304800" cy="266700"/>
          </a:xfrm>
          <a:prstGeom prst="rect">
            <a:avLst/>
          </a:prstGeom>
          <a:noFill/>
          <a:ln>
            <a:noFill/>
          </a:ln>
        </p:spPr>
      </p:pic>
      <p:sp>
        <p:nvSpPr>
          <p:cNvPr id="235" name="Google Shape;235;p20"/>
          <p:cNvSpPr txBox="1"/>
          <p:nvPr/>
        </p:nvSpPr>
        <p:spPr>
          <a:xfrm>
            <a:off x="1257300" y="3105001"/>
            <a:ext cx="416242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Code Editor (Tree-sitter)</a:t>
            </a:r>
            <a:endParaRPr/>
          </a:p>
        </p:txBody>
      </p:sp>
      <p:sp>
        <p:nvSpPr>
          <p:cNvPr id="236" name="Google Shape;236;p20"/>
          <p:cNvSpPr txBox="1"/>
          <p:nvPr/>
        </p:nvSpPr>
        <p:spPr>
          <a:xfrm>
            <a:off x="1257300" y="3552676"/>
            <a:ext cx="416242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Terminal &amp; Source Control</a:t>
            </a:r>
            <a:endParaRPr/>
          </a:p>
        </p:txBody>
      </p:sp>
      <p:sp>
        <p:nvSpPr>
          <p:cNvPr id="237" name="Google Shape;237;p20"/>
          <p:cNvSpPr txBox="1"/>
          <p:nvPr/>
        </p:nvSpPr>
        <p:spPr>
          <a:xfrm>
            <a:off x="1257300" y="4000351"/>
            <a:ext cx="416242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Pipeline System</a:t>
            </a:r>
            <a:endParaRPr/>
          </a:p>
        </p:txBody>
      </p:sp>
      <p:sp>
        <p:nvSpPr>
          <p:cNvPr id="238" name="Google Shape;238;p20"/>
          <p:cNvSpPr txBox="1"/>
          <p:nvPr/>
        </p:nvSpPr>
        <p:spPr>
          <a:xfrm>
            <a:off x="1257300" y="4448026"/>
            <a:ext cx="416242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AI Engine</a:t>
            </a:r>
            <a:endParaRPr/>
          </a:p>
        </p:txBody>
      </p:sp>
      <p:pic>
        <p:nvPicPr>
          <p:cNvPr descr="image.png" id="239" name="Google Shape;239;p20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772275" y="1920180"/>
            <a:ext cx="266700" cy="266700"/>
          </a:xfrm>
          <a:prstGeom prst="rect">
            <a:avLst/>
          </a:prstGeom>
          <a:noFill/>
          <a:ln>
            <a:noFill/>
          </a:ln>
        </p:spPr>
      </p:pic>
      <p:sp>
        <p:nvSpPr>
          <p:cNvPr id="240" name="Google Shape;240;p20"/>
          <p:cNvSpPr txBox="1"/>
          <p:nvPr/>
        </p:nvSpPr>
        <p:spPr>
          <a:xfrm>
            <a:off x="7058025" y="3105001"/>
            <a:ext cx="416242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Intelligent Router &amp; Agent Orchestrator</a:t>
            </a:r>
            <a:endParaRPr/>
          </a:p>
        </p:txBody>
      </p:sp>
      <p:sp>
        <p:nvSpPr>
          <p:cNvPr id="241" name="Google Shape;241;p20"/>
          <p:cNvSpPr txBox="1"/>
          <p:nvPr/>
        </p:nvSpPr>
        <p:spPr>
          <a:xfrm>
            <a:off x="7058025" y="3552676"/>
            <a:ext cx="4162425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AI Providers:</a:t>
            </a:r>
            <a:r>
              <a:rPr b="0" i="0" lang="en-US" sz="150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Claude, GPT-4, Gemini, Bedrock, Ollama</a:t>
            </a:r>
            <a:endParaRPr/>
          </a:p>
        </p:txBody>
      </p:sp>
      <p:sp>
        <p:nvSpPr>
          <p:cNvPr id="242" name="Google Shape;242;p20"/>
          <p:cNvSpPr txBox="1"/>
          <p:nvPr/>
        </p:nvSpPr>
        <p:spPr>
          <a:xfrm>
            <a:off x="7058025" y="4305151"/>
            <a:ext cx="416242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B82F6"/>
                </a:solidFill>
                <a:latin typeface="Inter"/>
                <a:ea typeface="Inter"/>
                <a:cs typeface="Inter"/>
                <a:sym typeface="Inter"/>
              </a:rPr>
              <a:t>All code stays local. No telemetry.</a:t>
            </a:r>
            <a:endParaRPr/>
          </a:p>
        </p:txBody>
      </p:sp>
      <p:sp>
        <p:nvSpPr>
          <p:cNvPr id="243" name="Google Shape;243;p20"/>
          <p:cNvSpPr txBox="1"/>
          <p:nvPr/>
        </p:nvSpPr>
        <p:spPr>
          <a:xfrm>
            <a:off x="971550" y="3105001"/>
            <a:ext cx="1143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B82F6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&gt;</a:t>
            </a:r>
            <a:endParaRPr/>
          </a:p>
        </p:txBody>
      </p:sp>
      <p:sp>
        <p:nvSpPr>
          <p:cNvPr id="244" name="Google Shape;244;p20"/>
          <p:cNvSpPr txBox="1"/>
          <p:nvPr/>
        </p:nvSpPr>
        <p:spPr>
          <a:xfrm>
            <a:off x="971550" y="3552676"/>
            <a:ext cx="1143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B82F6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&gt;</a:t>
            </a:r>
            <a:endParaRPr/>
          </a:p>
        </p:txBody>
      </p:sp>
      <p:sp>
        <p:nvSpPr>
          <p:cNvPr id="245" name="Google Shape;245;p20"/>
          <p:cNvSpPr txBox="1"/>
          <p:nvPr/>
        </p:nvSpPr>
        <p:spPr>
          <a:xfrm>
            <a:off x="971550" y="4000351"/>
            <a:ext cx="1143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B82F6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&gt;</a:t>
            </a:r>
            <a:endParaRPr/>
          </a:p>
        </p:txBody>
      </p:sp>
      <p:sp>
        <p:nvSpPr>
          <p:cNvPr id="246" name="Google Shape;246;p20"/>
          <p:cNvSpPr txBox="1"/>
          <p:nvPr/>
        </p:nvSpPr>
        <p:spPr>
          <a:xfrm>
            <a:off x="971550" y="4448026"/>
            <a:ext cx="1143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B82F6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&gt;</a:t>
            </a:r>
            <a:endParaRPr/>
          </a:p>
        </p:txBody>
      </p:sp>
      <p:sp>
        <p:nvSpPr>
          <p:cNvPr id="247" name="Google Shape;247;p20"/>
          <p:cNvSpPr txBox="1"/>
          <p:nvPr/>
        </p:nvSpPr>
        <p:spPr>
          <a:xfrm>
            <a:off x="6772275" y="3105001"/>
            <a:ext cx="1143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B82F6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&gt;</a:t>
            </a:r>
            <a:endParaRPr/>
          </a:p>
        </p:txBody>
      </p:sp>
      <p:sp>
        <p:nvSpPr>
          <p:cNvPr id="248" name="Google Shape;248;p20"/>
          <p:cNvSpPr txBox="1"/>
          <p:nvPr/>
        </p:nvSpPr>
        <p:spPr>
          <a:xfrm>
            <a:off x="6772275" y="3552676"/>
            <a:ext cx="1143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B82F6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&gt;</a:t>
            </a:r>
            <a:endParaRPr/>
          </a:p>
        </p:txBody>
      </p:sp>
      <p:sp>
        <p:nvSpPr>
          <p:cNvPr id="249" name="Google Shape;249;p20"/>
          <p:cNvSpPr txBox="1"/>
          <p:nvPr/>
        </p:nvSpPr>
        <p:spPr>
          <a:xfrm>
            <a:off x="6772275" y="4305151"/>
            <a:ext cx="1143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B82F6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&gt;</a:t>
            </a:r>
            <a:endParaRPr/>
          </a:p>
        </p:txBody>
      </p:sp>
      <p:sp>
        <p:nvSpPr>
          <p:cNvPr id="250" name="Google Shape;250;p20"/>
          <p:cNvSpPr txBox="1"/>
          <p:nvPr/>
        </p:nvSpPr>
        <p:spPr>
          <a:xfrm>
            <a:off x="771525" y="581025"/>
            <a:ext cx="11381422" cy="5485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600" u="none" cap="none" strike="noStrike">
                <a:solidFill>
                  <a:srgbClr val="F8FAFC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Privacy-First Architecture</a:t>
            </a:r>
            <a:endParaRPr/>
          </a:p>
        </p:txBody>
      </p:sp>
      <p:sp>
        <p:nvSpPr>
          <p:cNvPr id="251" name="Google Shape;251;p20"/>
          <p:cNvSpPr/>
          <p:nvPr/>
        </p:nvSpPr>
        <p:spPr>
          <a:xfrm>
            <a:off x="581025" y="581025"/>
            <a:ext cx="47625" cy="54858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E293B"/>
        </a:solidFill>
      </p:bgPr>
    </p:bg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56" name="Google Shape;256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57" name="Google Shape;257;p2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1025" y="1730722"/>
            <a:ext cx="2543175" cy="432613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58" name="Google Shape;258;p2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409950" y="1730722"/>
            <a:ext cx="2543175" cy="432613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59" name="Google Shape;259;p21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238875" y="1730722"/>
            <a:ext cx="2543175" cy="432613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60" name="Google Shape;260;p21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9067800" y="1730722"/>
            <a:ext cx="2543175" cy="432613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61" name="Google Shape;261;p21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1423987" y="2025997"/>
            <a:ext cx="857250" cy="857250"/>
          </a:xfrm>
          <a:prstGeom prst="rect">
            <a:avLst/>
          </a:prstGeom>
          <a:noFill/>
          <a:ln>
            <a:noFill/>
          </a:ln>
        </p:spPr>
      </p:pic>
      <p:sp>
        <p:nvSpPr>
          <p:cNvPr id="262" name="Google Shape;262;p21"/>
          <p:cNvSpPr txBox="1"/>
          <p:nvPr/>
        </p:nvSpPr>
        <p:spPr>
          <a:xfrm>
            <a:off x="827484" y="3073747"/>
            <a:ext cx="2050256" cy="639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100" u="none" cap="none" strike="noStrike">
                <a:solidFill>
                  <a:srgbClr val="E2E8F0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Amazon Bedrock</a:t>
            </a:r>
            <a:endParaRPr/>
          </a:p>
        </p:txBody>
      </p:sp>
      <p:sp>
        <p:nvSpPr>
          <p:cNvPr id="263" name="Google Shape;263;p21"/>
          <p:cNvSpPr txBox="1"/>
          <p:nvPr/>
        </p:nvSpPr>
        <p:spPr>
          <a:xfrm>
            <a:off x="876300" y="4047083"/>
            <a:ext cx="1952625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Multi-model AI access (Claude, Llama) for agent pipelines with intelligent routing.</a:t>
            </a:r>
            <a:endParaRPr/>
          </a:p>
        </p:txBody>
      </p:sp>
      <p:pic>
        <p:nvPicPr>
          <p:cNvPr descr="image.png" id="264" name="Google Shape;264;p21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4252912" y="2025997"/>
            <a:ext cx="857250" cy="857250"/>
          </a:xfrm>
          <a:prstGeom prst="rect">
            <a:avLst/>
          </a:prstGeom>
          <a:noFill/>
          <a:ln>
            <a:noFill/>
          </a:ln>
        </p:spPr>
      </p:pic>
      <p:sp>
        <p:nvSpPr>
          <p:cNvPr id="265" name="Google Shape;265;p21"/>
          <p:cNvSpPr txBox="1"/>
          <p:nvPr/>
        </p:nvSpPr>
        <p:spPr>
          <a:xfrm>
            <a:off x="3786425" y="3073747"/>
            <a:ext cx="1790223" cy="3199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100" u="none" cap="none" strike="noStrike">
                <a:solidFill>
                  <a:srgbClr val="E2E8F0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AWS Lambda</a:t>
            </a:r>
            <a:endParaRPr/>
          </a:p>
        </p:txBody>
      </p:sp>
      <p:sp>
        <p:nvSpPr>
          <p:cNvPr id="266" name="Google Shape;266;p21"/>
          <p:cNvSpPr txBox="1"/>
          <p:nvPr/>
        </p:nvSpPr>
        <p:spPr>
          <a:xfrm>
            <a:off x="3705225" y="3727102"/>
            <a:ext cx="1952625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Serverless agent execution. Scale pipelines on demand and pay only when agents run.</a:t>
            </a:r>
            <a:endParaRPr/>
          </a:p>
        </p:txBody>
      </p:sp>
      <p:pic>
        <p:nvPicPr>
          <p:cNvPr descr="image.png" id="267" name="Google Shape;267;p21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7081837" y="2025997"/>
            <a:ext cx="857250" cy="857250"/>
          </a:xfrm>
          <a:prstGeom prst="rect">
            <a:avLst/>
          </a:prstGeom>
          <a:noFill/>
          <a:ln>
            <a:noFill/>
          </a:ln>
        </p:spPr>
      </p:pic>
      <p:sp>
        <p:nvSpPr>
          <p:cNvPr id="268" name="Google Shape;268;p21"/>
          <p:cNvSpPr txBox="1"/>
          <p:nvPr/>
        </p:nvSpPr>
        <p:spPr>
          <a:xfrm>
            <a:off x="6745366" y="3073747"/>
            <a:ext cx="1530191" cy="3199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100" u="none" cap="none" strike="noStrike">
                <a:solidFill>
                  <a:srgbClr val="E2E8F0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Amazon S3</a:t>
            </a:r>
            <a:endParaRPr/>
          </a:p>
        </p:txBody>
      </p:sp>
      <p:sp>
        <p:nvSpPr>
          <p:cNvPr id="269" name="Google Shape;269;p21"/>
          <p:cNvSpPr txBox="1"/>
          <p:nvPr/>
        </p:nvSpPr>
        <p:spPr>
          <a:xfrm>
            <a:off x="6534150" y="3727102"/>
            <a:ext cx="1952625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Secure pipeline artifact storage, staging snapshots, and versioning backups.</a:t>
            </a:r>
            <a:endParaRPr/>
          </a:p>
        </p:txBody>
      </p:sp>
      <p:pic>
        <p:nvPicPr>
          <p:cNvPr descr="image.png" id="270" name="Google Shape;270;p21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9910762" y="2025997"/>
            <a:ext cx="857250" cy="857250"/>
          </a:xfrm>
          <a:prstGeom prst="rect">
            <a:avLst/>
          </a:prstGeom>
          <a:noFill/>
          <a:ln>
            <a:noFill/>
          </a:ln>
        </p:spPr>
      </p:pic>
      <p:sp>
        <p:nvSpPr>
          <p:cNvPr id="271" name="Google Shape;271;p21"/>
          <p:cNvSpPr txBox="1"/>
          <p:nvPr/>
        </p:nvSpPr>
        <p:spPr>
          <a:xfrm>
            <a:off x="9444275" y="3073747"/>
            <a:ext cx="1790223" cy="3199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100" u="none" cap="none" strike="noStrike">
                <a:solidFill>
                  <a:srgbClr val="E2E8F0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CodePipeline</a:t>
            </a:r>
            <a:endParaRPr/>
          </a:p>
        </p:txBody>
      </p:sp>
      <p:sp>
        <p:nvSpPr>
          <p:cNvPr id="272" name="Google Shape;272;p21"/>
          <p:cNvSpPr txBox="1"/>
          <p:nvPr/>
        </p:nvSpPr>
        <p:spPr>
          <a:xfrm>
            <a:off x="9363075" y="3727102"/>
            <a:ext cx="1952625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One-click deployment directly from the IDE to production environments.</a:t>
            </a:r>
            <a:endParaRPr/>
          </a:p>
        </p:txBody>
      </p:sp>
      <p:pic>
        <p:nvPicPr>
          <p:cNvPr descr="image.png" id="273" name="Google Shape;273;p21"/>
          <p:cNvPicPr preferRelativeResize="0"/>
          <p:nvPr/>
        </p:nvPicPr>
        <p:blipFill rotWithShape="1">
          <a:blip r:embed="rId12">
            <a:alphaModFix/>
          </a:blip>
          <a:srcRect b="0" l="0" r="0" t="0"/>
          <a:stretch/>
        </p:blipFill>
        <p:spPr>
          <a:xfrm>
            <a:off x="1566862" y="2226022"/>
            <a:ext cx="57150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74" name="Google Shape;274;p21"/>
          <p:cNvPicPr preferRelativeResize="0"/>
          <p:nvPr/>
        </p:nvPicPr>
        <p:blipFill rotWithShape="1">
          <a:blip r:embed="rId13">
            <a:alphaModFix/>
          </a:blip>
          <a:srcRect b="0" l="0" r="0" t="0"/>
          <a:stretch/>
        </p:blipFill>
        <p:spPr>
          <a:xfrm>
            <a:off x="4481512" y="2226022"/>
            <a:ext cx="40005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75" name="Google Shape;275;p21"/>
          <p:cNvPicPr preferRelativeResize="0"/>
          <p:nvPr/>
        </p:nvPicPr>
        <p:blipFill rotWithShape="1">
          <a:blip r:embed="rId14">
            <a:alphaModFix/>
          </a:blip>
          <a:srcRect b="0" l="0" r="0" t="0"/>
          <a:stretch/>
        </p:blipFill>
        <p:spPr>
          <a:xfrm>
            <a:off x="7310437" y="2226022"/>
            <a:ext cx="40005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76" name="Google Shape;276;p21"/>
          <p:cNvPicPr preferRelativeResize="0"/>
          <p:nvPr/>
        </p:nvPicPr>
        <p:blipFill rotWithShape="1">
          <a:blip r:embed="rId15">
            <a:alphaModFix/>
          </a:blip>
          <a:srcRect b="0" l="0" r="0" t="0"/>
          <a:stretch/>
        </p:blipFill>
        <p:spPr>
          <a:xfrm>
            <a:off x="10110787" y="2226022"/>
            <a:ext cx="4572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277" name="Google Shape;277;p21"/>
          <p:cNvSpPr txBox="1"/>
          <p:nvPr/>
        </p:nvSpPr>
        <p:spPr>
          <a:xfrm>
            <a:off x="771525" y="581025"/>
            <a:ext cx="11381422" cy="5485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600" u="none" cap="none" strike="noStrike">
                <a:solidFill>
                  <a:srgbClr val="F8FAFC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Powered by AWS Cloud</a:t>
            </a:r>
            <a:endParaRPr/>
          </a:p>
        </p:txBody>
      </p:sp>
      <p:sp>
        <p:nvSpPr>
          <p:cNvPr id="278" name="Google Shape;278;p21"/>
          <p:cNvSpPr/>
          <p:nvPr/>
        </p:nvSpPr>
        <p:spPr>
          <a:xfrm>
            <a:off x="581025" y="581025"/>
            <a:ext cx="47625" cy="54858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E293B"/>
        </a:solidFill>
      </p:bgPr>
    </p:bg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83" name="Google Shape;283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84" name="Google Shape;284;p2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1025" y="3357413"/>
            <a:ext cx="2609850" cy="19145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85" name="Google Shape;285;p2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571875" y="3357413"/>
            <a:ext cx="2425749" cy="19145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86" name="Google Shape;286;p22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378624" y="3357413"/>
            <a:ext cx="2425749" cy="19145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87" name="Google Shape;287;p22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9185374" y="3357413"/>
            <a:ext cx="2425749" cy="1914525"/>
          </a:xfrm>
          <a:prstGeom prst="rect">
            <a:avLst/>
          </a:prstGeom>
          <a:noFill/>
          <a:ln>
            <a:noFill/>
          </a:ln>
        </p:spPr>
      </p:pic>
      <p:sp>
        <p:nvSpPr>
          <p:cNvPr id="288" name="Google Shape;288;p22"/>
          <p:cNvSpPr txBox="1"/>
          <p:nvPr/>
        </p:nvSpPr>
        <p:spPr>
          <a:xfrm>
            <a:off x="3771900" y="2515492"/>
            <a:ext cx="4648200" cy="3656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Real, working software. Not just a concept.</a:t>
            </a:r>
            <a:endParaRPr/>
          </a:p>
        </p:txBody>
      </p:sp>
      <p:sp>
        <p:nvSpPr>
          <p:cNvPr id="289" name="Google Shape;289;p22"/>
          <p:cNvSpPr txBox="1"/>
          <p:nvPr/>
        </p:nvSpPr>
        <p:spPr>
          <a:xfrm>
            <a:off x="971550" y="3747938"/>
            <a:ext cx="18288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6000" u="none" cap="none" strike="noStrike">
                <a:solidFill>
                  <a:srgbClr val="3B82F6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50K+</a:t>
            </a:r>
            <a:endParaRPr/>
          </a:p>
        </p:txBody>
      </p:sp>
      <p:sp>
        <p:nvSpPr>
          <p:cNvPr id="290" name="Google Shape;290;p22"/>
          <p:cNvSpPr txBox="1"/>
          <p:nvPr/>
        </p:nvSpPr>
        <p:spPr>
          <a:xfrm>
            <a:off x="971550" y="4605188"/>
            <a:ext cx="1828800" cy="2762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F1F5F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Lines of Swift</a:t>
            </a:r>
            <a:endParaRPr/>
          </a:p>
        </p:txBody>
      </p:sp>
      <p:sp>
        <p:nvSpPr>
          <p:cNvPr id="291" name="Google Shape;291;p22"/>
          <p:cNvSpPr txBox="1"/>
          <p:nvPr/>
        </p:nvSpPr>
        <p:spPr>
          <a:xfrm>
            <a:off x="3962400" y="3747938"/>
            <a:ext cx="1644699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6000" u="none" cap="none" strike="noStrike">
                <a:solidFill>
                  <a:srgbClr val="3B82F6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80+</a:t>
            </a:r>
            <a:endParaRPr/>
          </a:p>
        </p:txBody>
      </p:sp>
      <p:sp>
        <p:nvSpPr>
          <p:cNvPr id="292" name="Google Shape;292;p22"/>
          <p:cNvSpPr txBox="1"/>
          <p:nvPr/>
        </p:nvSpPr>
        <p:spPr>
          <a:xfrm>
            <a:off x="3962400" y="4605188"/>
            <a:ext cx="1644699" cy="2762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F1F5F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Source Files</a:t>
            </a:r>
            <a:endParaRPr/>
          </a:p>
        </p:txBody>
      </p:sp>
      <p:sp>
        <p:nvSpPr>
          <p:cNvPr id="293" name="Google Shape;293;p22"/>
          <p:cNvSpPr txBox="1"/>
          <p:nvPr/>
        </p:nvSpPr>
        <p:spPr>
          <a:xfrm>
            <a:off x="6769149" y="3747938"/>
            <a:ext cx="1644699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6000" u="none" cap="none" strike="noStrike">
                <a:solidFill>
                  <a:srgbClr val="3B82F6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35+</a:t>
            </a:r>
            <a:endParaRPr/>
          </a:p>
        </p:txBody>
      </p:sp>
      <p:sp>
        <p:nvSpPr>
          <p:cNvPr id="294" name="Google Shape;294;p22"/>
          <p:cNvSpPr txBox="1"/>
          <p:nvPr/>
        </p:nvSpPr>
        <p:spPr>
          <a:xfrm>
            <a:off x="6769149" y="4605188"/>
            <a:ext cx="1644699" cy="2762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F1F5F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Languages</a:t>
            </a:r>
            <a:endParaRPr/>
          </a:p>
        </p:txBody>
      </p:sp>
      <p:sp>
        <p:nvSpPr>
          <p:cNvPr id="295" name="Google Shape;295;p22"/>
          <p:cNvSpPr txBox="1"/>
          <p:nvPr/>
        </p:nvSpPr>
        <p:spPr>
          <a:xfrm>
            <a:off x="9575899" y="3747938"/>
            <a:ext cx="1644699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6000" u="none" cap="none" strike="noStrike">
                <a:solidFill>
                  <a:srgbClr val="3B82F6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14</a:t>
            </a:r>
            <a:endParaRPr/>
          </a:p>
        </p:txBody>
      </p:sp>
      <p:sp>
        <p:nvSpPr>
          <p:cNvPr id="296" name="Google Shape;296;p22"/>
          <p:cNvSpPr txBox="1"/>
          <p:nvPr/>
        </p:nvSpPr>
        <p:spPr>
          <a:xfrm>
            <a:off x="9575899" y="4605188"/>
            <a:ext cx="1644699" cy="2762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F1F5F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Themes</a:t>
            </a:r>
            <a:endParaRPr/>
          </a:p>
        </p:txBody>
      </p:sp>
      <p:sp>
        <p:nvSpPr>
          <p:cNvPr id="297" name="Google Shape;297;p22"/>
          <p:cNvSpPr txBox="1"/>
          <p:nvPr/>
        </p:nvSpPr>
        <p:spPr>
          <a:xfrm>
            <a:off x="771525" y="581025"/>
            <a:ext cx="11381422" cy="5485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600" u="none" cap="none" strike="noStrike">
                <a:solidFill>
                  <a:srgbClr val="F8FAFC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What We've Built</a:t>
            </a:r>
            <a:endParaRPr/>
          </a:p>
        </p:txBody>
      </p:sp>
      <p:sp>
        <p:nvSpPr>
          <p:cNvPr id="298" name="Google Shape;298;p22"/>
          <p:cNvSpPr/>
          <p:nvPr/>
        </p:nvSpPr>
        <p:spPr>
          <a:xfrm>
            <a:off x="581025" y="581025"/>
            <a:ext cx="47625" cy="54858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E293B"/>
        </a:solidFill>
      </p:bgPr>
    </p:bg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303" name="Google Shape;303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04" name="Google Shape;304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1025" y="2483197"/>
            <a:ext cx="11029950" cy="2821185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305" name="Google Shape;305;p23"/>
          <p:cNvGraphicFramePr/>
          <p:nvPr/>
        </p:nvGraphicFramePr>
        <p:xfrm>
          <a:off x="590550" y="2492722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{BE37DE3C-FE46-4FFD-BE4B-1389065FC417}</a:tableStyleId>
              </a:tblPr>
              <a:tblGrid>
                <a:gridCol w="1707350"/>
                <a:gridCol w="2090450"/>
                <a:gridCol w="7213100"/>
              </a:tblGrid>
              <a:tr h="7005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650" u="none" cap="none" strike="noStrike">
                          <a:solidFill>
                            <a:srgbClr val="A855F7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Tier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650" u="none" cap="none" strike="noStrike">
                          <a:solidFill>
                            <a:srgbClr val="A855F7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Price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650" u="none" cap="none" strike="noStrike">
                          <a:solidFill>
                            <a:srgbClr val="A855F7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Features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E293B"/>
                    </a:solidFill>
                  </a:tcPr>
                </a:tc>
              </a:tr>
              <a:tr h="7005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500" u="none" cap="none" strike="noStrike">
                          <a:solidFill>
                            <a:srgbClr val="CBD5E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Free Tier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500" u="none" cap="none" strike="noStrike">
                          <a:solidFill>
                            <a:srgbClr val="A855F7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₹0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500" u="none" cap="none" strike="noStrike">
                          <a:solidFill>
                            <a:srgbClr val="CBD5E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Full IDE, 50 AI queries/day, Community Support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E293B"/>
                    </a:solidFill>
                  </a:tcPr>
                </a:tc>
              </a:tr>
              <a:tr h="7005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500" u="none" cap="none" strike="noStrike">
                          <a:solidFill>
                            <a:srgbClr val="CBD5E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Pro Tier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500" u="none" cap="none" strike="noStrike">
                          <a:solidFill>
                            <a:srgbClr val="A855F7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₹800 </a:t>
                      </a:r>
                      <a:r>
                        <a:rPr b="1" i="0" lang="en-US" sz="1500" u="none" cap="none" strike="noStrike">
                          <a:solidFill>
                            <a:srgbClr val="94A3B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/mo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500" u="none" cap="none" strike="noStrike">
                          <a:solidFill>
                            <a:srgbClr val="CBD5E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Unlimited AI, Full Agentic Pipelines, Priority Models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F172A"/>
                    </a:solidFill>
                  </a:tcPr>
                </a:tc>
              </a:tr>
              <a:tr h="7005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500" u="none" cap="none" strike="noStrike">
                          <a:solidFill>
                            <a:srgbClr val="CBD5E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Team Tier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500" u="none" cap="none" strike="noStrike">
                          <a:solidFill>
                            <a:srgbClr val="A855F7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₹2000 </a:t>
                      </a:r>
                      <a:r>
                        <a:rPr b="1" i="0" lang="en-US" sz="1500" u="none" cap="none" strike="noStrike">
                          <a:solidFill>
                            <a:srgbClr val="94A3B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/user/mo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500" u="none" cap="none" strike="noStrike">
                          <a:solidFill>
                            <a:srgbClr val="CBD5E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Shared Pipelines, Cloud Collaboration, One-click Cloud Deploy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306" name="Google Shape;306;p23"/>
          <p:cNvSpPr/>
          <p:nvPr/>
        </p:nvSpPr>
        <p:spPr>
          <a:xfrm>
            <a:off x="590550" y="3204120"/>
            <a:ext cx="1707356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7" name="Google Shape;307;p23"/>
          <p:cNvSpPr/>
          <p:nvPr/>
        </p:nvSpPr>
        <p:spPr>
          <a:xfrm>
            <a:off x="2297906" y="3204120"/>
            <a:ext cx="2090439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8" name="Google Shape;308;p23"/>
          <p:cNvSpPr/>
          <p:nvPr/>
        </p:nvSpPr>
        <p:spPr>
          <a:xfrm>
            <a:off x="4388346" y="3204120"/>
            <a:ext cx="7213103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9" name="Google Shape;309;p23"/>
          <p:cNvSpPr/>
          <p:nvPr/>
        </p:nvSpPr>
        <p:spPr>
          <a:xfrm>
            <a:off x="590550" y="3899445"/>
            <a:ext cx="1707356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0" name="Google Shape;310;p23"/>
          <p:cNvSpPr/>
          <p:nvPr/>
        </p:nvSpPr>
        <p:spPr>
          <a:xfrm>
            <a:off x="2297906" y="3899445"/>
            <a:ext cx="2090439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1" name="Google Shape;311;p23"/>
          <p:cNvSpPr/>
          <p:nvPr/>
        </p:nvSpPr>
        <p:spPr>
          <a:xfrm>
            <a:off x="4388346" y="3899445"/>
            <a:ext cx="7213103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2" name="Google Shape;312;p23"/>
          <p:cNvSpPr/>
          <p:nvPr/>
        </p:nvSpPr>
        <p:spPr>
          <a:xfrm>
            <a:off x="590550" y="4594770"/>
            <a:ext cx="1707356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3" name="Google Shape;313;p23"/>
          <p:cNvSpPr/>
          <p:nvPr/>
        </p:nvSpPr>
        <p:spPr>
          <a:xfrm>
            <a:off x="2297906" y="4594770"/>
            <a:ext cx="2090439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4" name="Google Shape;314;p23"/>
          <p:cNvSpPr/>
          <p:nvPr/>
        </p:nvSpPr>
        <p:spPr>
          <a:xfrm>
            <a:off x="4388346" y="4594770"/>
            <a:ext cx="7213103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5" name="Google Shape;315;p23"/>
          <p:cNvSpPr txBox="1"/>
          <p:nvPr/>
        </p:nvSpPr>
        <p:spPr>
          <a:xfrm>
            <a:off x="771525" y="581025"/>
            <a:ext cx="11381422" cy="5485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600" u="none" cap="none" strike="noStrike">
                <a:solidFill>
                  <a:srgbClr val="F8FAFC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Business Model</a:t>
            </a:r>
            <a:endParaRPr/>
          </a:p>
        </p:txBody>
      </p:sp>
      <p:sp>
        <p:nvSpPr>
          <p:cNvPr id="316" name="Google Shape;316;p23"/>
          <p:cNvSpPr/>
          <p:nvPr/>
        </p:nvSpPr>
        <p:spPr>
          <a:xfrm>
            <a:off x="581025" y="581025"/>
            <a:ext cx="47625" cy="54858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E293B"/>
        </a:solidFill>
      </p:bgPr>
    </p:bg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321" name="Google Shape;321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22" name="Google Shape;322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1025" y="3874740"/>
            <a:ext cx="11029950" cy="38100"/>
          </a:xfrm>
          <a:prstGeom prst="rect">
            <a:avLst/>
          </a:prstGeom>
          <a:noFill/>
          <a:ln>
            <a:noFill/>
          </a:ln>
        </p:spPr>
      </p:pic>
      <p:sp>
        <p:nvSpPr>
          <p:cNvPr id="323" name="Google Shape;323;p24"/>
          <p:cNvSpPr/>
          <p:nvPr/>
        </p:nvSpPr>
        <p:spPr>
          <a:xfrm>
            <a:off x="1509117" y="3779490"/>
            <a:ext cx="228600" cy="228600"/>
          </a:xfrm>
          <a:prstGeom prst="roundRect">
            <a:avLst>
              <a:gd fmla="val 50000" name="adj"/>
            </a:avLst>
          </a:prstGeom>
          <a:solidFill>
            <a:srgbClr val="0F172A"/>
          </a:solidFill>
          <a:ln cap="flat" cmpd="sng" w="38100">
            <a:solidFill>
              <a:srgbClr val="A855F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4" name="Google Shape;324;p24"/>
          <p:cNvSpPr/>
          <p:nvPr/>
        </p:nvSpPr>
        <p:spPr>
          <a:xfrm>
            <a:off x="4490739" y="3779490"/>
            <a:ext cx="228600" cy="228600"/>
          </a:xfrm>
          <a:prstGeom prst="roundRect">
            <a:avLst>
              <a:gd fmla="val 50000" name="adj"/>
            </a:avLst>
          </a:prstGeom>
          <a:solidFill>
            <a:srgbClr val="0F172A"/>
          </a:solidFill>
          <a:ln cap="flat" cmpd="sng" w="38100">
            <a:solidFill>
              <a:srgbClr val="A855F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24"/>
          <p:cNvSpPr/>
          <p:nvPr/>
        </p:nvSpPr>
        <p:spPr>
          <a:xfrm>
            <a:off x="7472362" y="3779490"/>
            <a:ext cx="228600" cy="228600"/>
          </a:xfrm>
          <a:prstGeom prst="roundRect">
            <a:avLst>
              <a:gd fmla="val 50000" name="adj"/>
            </a:avLst>
          </a:prstGeom>
          <a:solidFill>
            <a:srgbClr val="0F172A"/>
          </a:solidFill>
          <a:ln cap="flat" cmpd="sng" w="38100">
            <a:solidFill>
              <a:srgbClr val="A855F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6" name="Google Shape;326;p24"/>
          <p:cNvSpPr/>
          <p:nvPr/>
        </p:nvSpPr>
        <p:spPr>
          <a:xfrm>
            <a:off x="10453985" y="3779490"/>
            <a:ext cx="228600" cy="228600"/>
          </a:xfrm>
          <a:prstGeom prst="roundRect">
            <a:avLst>
              <a:gd fmla="val 50000" name="adj"/>
            </a:avLst>
          </a:prstGeom>
          <a:solidFill>
            <a:srgbClr val="0F172A"/>
          </a:solidFill>
          <a:ln cap="flat" cmpd="sng" w="38100">
            <a:solidFill>
              <a:srgbClr val="A855F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7" name="Google Shape;327;p24"/>
          <p:cNvSpPr txBox="1"/>
          <p:nvPr/>
        </p:nvSpPr>
        <p:spPr>
          <a:xfrm>
            <a:off x="371225" y="4274790"/>
            <a:ext cx="2504531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F8FAFC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Q1 2026</a:t>
            </a:r>
            <a:endParaRPr/>
          </a:p>
        </p:txBody>
      </p:sp>
      <p:sp>
        <p:nvSpPr>
          <p:cNvPr id="328" name="Google Shape;328;p24"/>
          <p:cNvSpPr txBox="1"/>
          <p:nvPr/>
        </p:nvSpPr>
        <p:spPr>
          <a:xfrm>
            <a:off x="430857" y="4636740"/>
            <a:ext cx="2385268" cy="55989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8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macOS Beta Release</a:t>
            </a:r>
            <a:b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05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10K Early Adopters</a:t>
            </a:r>
            <a:b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05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Plugin API</a:t>
            </a:r>
            <a:endParaRPr/>
          </a:p>
        </p:txBody>
      </p:sp>
      <p:sp>
        <p:nvSpPr>
          <p:cNvPr id="329" name="Google Shape;329;p24"/>
          <p:cNvSpPr txBox="1"/>
          <p:nvPr/>
        </p:nvSpPr>
        <p:spPr>
          <a:xfrm>
            <a:off x="3352848" y="2457598"/>
            <a:ext cx="2504531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F8FAFC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Q2 2026</a:t>
            </a:r>
            <a:endParaRPr/>
          </a:p>
        </p:txBody>
      </p:sp>
      <p:sp>
        <p:nvSpPr>
          <p:cNvPr id="330" name="Google Shape;330;p24"/>
          <p:cNvSpPr txBox="1"/>
          <p:nvPr/>
        </p:nvSpPr>
        <p:spPr>
          <a:xfrm>
            <a:off x="3412480" y="2819548"/>
            <a:ext cx="2385268" cy="55989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8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iOS Companion App</a:t>
            </a:r>
            <a:b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05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Linux Support</a:t>
            </a:r>
            <a:b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05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SourceKit-LSP</a:t>
            </a:r>
            <a:endParaRPr/>
          </a:p>
        </p:txBody>
      </p:sp>
      <p:sp>
        <p:nvSpPr>
          <p:cNvPr id="331" name="Google Shape;331;p24"/>
          <p:cNvSpPr txBox="1"/>
          <p:nvPr/>
        </p:nvSpPr>
        <p:spPr>
          <a:xfrm>
            <a:off x="6334471" y="4274790"/>
            <a:ext cx="2504531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F8FAFC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Q3 2026</a:t>
            </a:r>
            <a:endParaRPr/>
          </a:p>
        </p:txBody>
      </p:sp>
      <p:sp>
        <p:nvSpPr>
          <p:cNvPr id="332" name="Google Shape;332;p24"/>
          <p:cNvSpPr txBox="1"/>
          <p:nvPr/>
        </p:nvSpPr>
        <p:spPr>
          <a:xfrm>
            <a:off x="6394102" y="4636740"/>
            <a:ext cx="2385268" cy="55989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8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Team Features</a:t>
            </a:r>
            <a:b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05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Cloud Deploy</a:t>
            </a:r>
            <a:b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05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AWS Integration</a:t>
            </a:r>
            <a:endParaRPr/>
          </a:p>
        </p:txBody>
      </p:sp>
      <p:sp>
        <p:nvSpPr>
          <p:cNvPr id="333" name="Google Shape;333;p24"/>
          <p:cNvSpPr txBox="1"/>
          <p:nvPr/>
        </p:nvSpPr>
        <p:spPr>
          <a:xfrm>
            <a:off x="9316093" y="2457598"/>
            <a:ext cx="2504531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F8FAFC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Q4 2026</a:t>
            </a:r>
            <a:endParaRPr/>
          </a:p>
        </p:txBody>
      </p:sp>
      <p:sp>
        <p:nvSpPr>
          <p:cNvPr id="334" name="Google Shape;334;p24"/>
          <p:cNvSpPr txBox="1"/>
          <p:nvPr/>
        </p:nvSpPr>
        <p:spPr>
          <a:xfrm>
            <a:off x="9375725" y="2819548"/>
            <a:ext cx="2385268" cy="55989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8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Enterprise Tier</a:t>
            </a:r>
            <a:b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05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On-Premise AI</a:t>
            </a:r>
            <a:b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05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Voice Coding</a:t>
            </a:r>
            <a:endParaRPr/>
          </a:p>
        </p:txBody>
      </p:sp>
      <p:sp>
        <p:nvSpPr>
          <p:cNvPr id="335" name="Google Shape;335;p24"/>
          <p:cNvSpPr txBox="1"/>
          <p:nvPr/>
        </p:nvSpPr>
        <p:spPr>
          <a:xfrm>
            <a:off x="771525" y="581025"/>
            <a:ext cx="11381422" cy="5485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600" u="none" cap="none" strike="noStrike">
                <a:solidFill>
                  <a:srgbClr val="F8FAFC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Roadmap 2026</a:t>
            </a:r>
            <a:endParaRPr/>
          </a:p>
        </p:txBody>
      </p:sp>
      <p:sp>
        <p:nvSpPr>
          <p:cNvPr id="336" name="Google Shape;336;p24"/>
          <p:cNvSpPr/>
          <p:nvPr/>
        </p:nvSpPr>
        <p:spPr>
          <a:xfrm>
            <a:off x="581025" y="581025"/>
            <a:ext cx="47625" cy="54858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E293B"/>
        </a:solidFill>
      </p:bgPr>
    </p:bg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341" name="Google Shape;34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42" name="Google Shape;342;p2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1025" y="2043112"/>
            <a:ext cx="3486150" cy="37013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43" name="Google Shape;343;p2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352925" y="2043112"/>
            <a:ext cx="3486150" cy="37013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44" name="Google Shape;344;p25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124825" y="2043112"/>
            <a:ext cx="3486150" cy="37013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45" name="Google Shape;345;p25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1895475" y="2338387"/>
            <a:ext cx="857250" cy="857250"/>
          </a:xfrm>
          <a:prstGeom prst="rect">
            <a:avLst/>
          </a:prstGeom>
          <a:noFill/>
          <a:ln>
            <a:noFill/>
          </a:ln>
        </p:spPr>
      </p:pic>
      <p:sp>
        <p:nvSpPr>
          <p:cNvPr id="346" name="Google Shape;346;p25"/>
          <p:cNvSpPr txBox="1"/>
          <p:nvPr/>
        </p:nvSpPr>
        <p:spPr>
          <a:xfrm>
            <a:off x="1448990" y="3386137"/>
            <a:ext cx="1750218" cy="3199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100" u="none" cap="none" strike="noStrike">
                <a:solidFill>
                  <a:srgbClr val="E2E8F0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Open Source</a:t>
            </a:r>
            <a:endParaRPr/>
          </a:p>
        </p:txBody>
      </p:sp>
      <p:sp>
        <p:nvSpPr>
          <p:cNvPr id="347" name="Google Shape;347;p25"/>
          <p:cNvSpPr txBox="1"/>
          <p:nvPr/>
        </p:nvSpPr>
        <p:spPr>
          <a:xfrm>
            <a:off x="876300" y="4039492"/>
            <a:ext cx="28956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Release core IDE as open source to build trust and a vibrant developer community.</a:t>
            </a:r>
            <a:endParaRPr/>
          </a:p>
        </p:txBody>
      </p:sp>
      <p:pic>
        <p:nvPicPr>
          <p:cNvPr descr="image.png" id="348" name="Google Shape;348;p25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5667375" y="2338387"/>
            <a:ext cx="857250" cy="857250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25"/>
          <p:cNvSpPr txBox="1"/>
          <p:nvPr/>
        </p:nvSpPr>
        <p:spPr>
          <a:xfrm>
            <a:off x="5360908" y="3386137"/>
            <a:ext cx="1470183" cy="3199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100" u="none" cap="none" strike="noStrike">
                <a:solidFill>
                  <a:srgbClr val="E2E8F0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Grassroots</a:t>
            </a:r>
            <a:endParaRPr/>
          </a:p>
        </p:txBody>
      </p:sp>
      <p:sp>
        <p:nvSpPr>
          <p:cNvPr id="350" name="Google Shape;350;p25"/>
          <p:cNvSpPr txBox="1"/>
          <p:nvPr/>
        </p:nvSpPr>
        <p:spPr>
          <a:xfrm>
            <a:off x="4648200" y="4039492"/>
            <a:ext cx="2895600" cy="12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Target Indian dev meetups, college hackathons, and partner with 100+ coding bootcamps.</a:t>
            </a:r>
            <a:endParaRPr/>
          </a:p>
        </p:txBody>
      </p:sp>
      <p:pic>
        <p:nvPicPr>
          <p:cNvPr descr="image.png" id="351" name="Google Shape;351;p25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9439275" y="2338387"/>
            <a:ext cx="857250" cy="857250"/>
          </a:xfrm>
          <a:prstGeom prst="rect">
            <a:avLst/>
          </a:prstGeom>
          <a:noFill/>
          <a:ln>
            <a:noFill/>
          </a:ln>
        </p:spPr>
      </p:pic>
      <p:sp>
        <p:nvSpPr>
          <p:cNvPr id="352" name="Google Shape;352;p25"/>
          <p:cNvSpPr txBox="1"/>
          <p:nvPr/>
        </p:nvSpPr>
        <p:spPr>
          <a:xfrm>
            <a:off x="9027795" y="3386137"/>
            <a:ext cx="1680210" cy="3199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100" u="none" cap="none" strike="noStrike">
                <a:solidFill>
                  <a:srgbClr val="E2E8F0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Marketplace</a:t>
            </a:r>
            <a:endParaRPr/>
          </a:p>
        </p:txBody>
      </p:sp>
      <p:sp>
        <p:nvSpPr>
          <p:cNvPr id="353" name="Google Shape;353;p25"/>
          <p:cNvSpPr txBox="1"/>
          <p:nvPr/>
        </p:nvSpPr>
        <p:spPr>
          <a:xfrm>
            <a:off x="8420100" y="4039492"/>
            <a:ext cx="28956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List on AWS Marketplace for seamless enterprise adoption and billing integration.</a:t>
            </a:r>
            <a:endParaRPr/>
          </a:p>
        </p:txBody>
      </p:sp>
      <p:pic>
        <p:nvPicPr>
          <p:cNvPr descr="image.png" id="354" name="Google Shape;354;p25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2100262" y="2538412"/>
            <a:ext cx="447675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55" name="Google Shape;355;p25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5810250" y="2538412"/>
            <a:ext cx="57150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56" name="Google Shape;356;p25"/>
          <p:cNvPicPr preferRelativeResize="0"/>
          <p:nvPr/>
        </p:nvPicPr>
        <p:blipFill rotWithShape="1">
          <a:blip r:embed="rId12">
            <a:alphaModFix/>
          </a:blip>
          <a:srcRect b="0" l="0" r="0" t="0"/>
          <a:stretch/>
        </p:blipFill>
        <p:spPr>
          <a:xfrm>
            <a:off x="9582150" y="2538412"/>
            <a:ext cx="5715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357" name="Google Shape;357;p25"/>
          <p:cNvSpPr txBox="1"/>
          <p:nvPr/>
        </p:nvSpPr>
        <p:spPr>
          <a:xfrm>
            <a:off x="771525" y="581025"/>
            <a:ext cx="11381422" cy="5485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600" u="none" cap="none" strike="noStrike">
                <a:solidFill>
                  <a:srgbClr val="F8FAFC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Go-to-Market Strategy</a:t>
            </a:r>
            <a:endParaRPr/>
          </a:p>
        </p:txBody>
      </p:sp>
      <p:sp>
        <p:nvSpPr>
          <p:cNvPr id="358" name="Google Shape;358;p25"/>
          <p:cNvSpPr/>
          <p:nvPr/>
        </p:nvSpPr>
        <p:spPr>
          <a:xfrm>
            <a:off x="581025" y="581025"/>
            <a:ext cx="47625" cy="54858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E293B"/>
        </a:solidFill>
      </p:bgPr>
    </p:bg>
    <p:spTree>
      <p:nvGrpSpPr>
        <p:cNvPr id="362" name="Shape 3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363" name="Google Shape;36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64" name="Google Shape;364;p26"/>
          <p:cNvSpPr txBox="1"/>
          <p:nvPr/>
        </p:nvSpPr>
        <p:spPr>
          <a:xfrm>
            <a:off x="962025" y="2188071"/>
            <a:ext cx="10267950" cy="191988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600" u="none" cap="none" strike="noStrike">
                <a:solidFill>
                  <a:srgbClr val="F8FAFC"/>
                </a:solidFill>
                <a:latin typeface="Inter Medium"/>
                <a:ea typeface="Inter Medium"/>
                <a:cs typeface="Inter Medium"/>
                <a:sym typeface="Inter Medium"/>
              </a:rPr>
              <a:t>"Make every developer in Bharat as productive as a 10x engineer — powered by AI agents that understand, build, and ship alongside you."</a:t>
            </a:r>
            <a:endParaRPr/>
          </a:p>
        </p:txBody>
      </p:sp>
      <p:sp>
        <p:nvSpPr>
          <p:cNvPr id="365" name="Google Shape;365;p26"/>
          <p:cNvSpPr txBox="1"/>
          <p:nvPr/>
        </p:nvSpPr>
        <p:spPr>
          <a:xfrm>
            <a:off x="4533444" y="5200713"/>
            <a:ext cx="31251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A855F7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— SupaDev Vision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