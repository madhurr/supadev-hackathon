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85F783-D38C-49BA-A554-677BA61341A3}">
  <a:tblStyle styleId="{A885F783-D38C-49BA-A554-677BA61341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.fntdata"/><Relationship Id="rId12" Type="http://schemas.openxmlformats.org/officeDocument/2006/relationships/slide" Target="slides/slide6.xml"/><Relationship Id="rId34" Type="http://schemas.openxmlformats.org/officeDocument/2006/relationships/font" Target="fonts/JetBrainsMono-regular.fntdata"/><Relationship Id="rId15" Type="http://schemas.openxmlformats.org/officeDocument/2006/relationships/slide" Target="slides/slide9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8.xml"/><Relationship Id="rId36" Type="http://schemas.openxmlformats.org/officeDocument/2006/relationships/font" Target="fonts/JetBrains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1" Type="http://schemas.openxmlformats.org/officeDocument/2006/relationships/image" Target="../media/image20.png"/><Relationship Id="rId10" Type="http://schemas.openxmlformats.org/officeDocument/2006/relationships/image" Target="../media/image6.png"/><Relationship Id="rId12" Type="http://schemas.openxmlformats.org/officeDocument/2006/relationships/image" Target="../media/image27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11" Type="http://schemas.openxmlformats.org/officeDocument/2006/relationships/image" Target="../media/image30.png"/><Relationship Id="rId10" Type="http://schemas.openxmlformats.org/officeDocument/2006/relationships/image" Target="../media/image47.png"/><Relationship Id="rId9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43.png"/><Relationship Id="rId7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48.png"/><Relationship Id="rId13" Type="http://schemas.openxmlformats.org/officeDocument/2006/relationships/image" Target="../media/image50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9" Type="http://schemas.openxmlformats.org/officeDocument/2006/relationships/image" Target="../media/image32.png"/><Relationship Id="rId15" Type="http://schemas.openxmlformats.org/officeDocument/2006/relationships/image" Target="../media/image52.png"/><Relationship Id="rId14" Type="http://schemas.openxmlformats.org/officeDocument/2006/relationships/image" Target="../media/image37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42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6.png"/><Relationship Id="rId7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59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9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49.png"/><Relationship Id="rId7" Type="http://schemas.openxmlformats.org/officeDocument/2006/relationships/image" Target="../media/image55.png"/><Relationship Id="rId8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61.png"/><Relationship Id="rId7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450544" y="2335559"/>
            <a:ext cx="7290911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⚡ SupaDev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624137" y="3348930"/>
            <a:ext cx="6943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AI-Powered Agentic IDE for Bharat's Developers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24137" y="4548441"/>
            <a:ext cx="694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One IDE. Multiple AI Agents. Zero Context Switching.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605"/>
            <a:ext cx="5229225" cy="4766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10605"/>
            <a:ext cx="5229225" cy="476636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71550" y="190113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Tool Fragmentation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971550" y="236398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772275" y="190113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Accessibility in Bharat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772275" y="236398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192018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257300" y="256401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Developers juggle 5-8 tools daily (Editor, Terminal, Git, AI Chat).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57300" y="331648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40% of productivity is lost solely to context switching.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57300" y="406896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current IDE offers autonomous multi-agent pipelines locally.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1920180"/>
            <a:ext cx="1714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058025" y="256401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Cursor ($20/mo) &amp; Copilot ($19/mo) are unaffordable for students.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58025" y="331648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Existing AI IDEs require constant high-speed cloud connectivity.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58025" y="406896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India's spotty internet in Tier 2/3 cities hinders adoption.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1550" y="25640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1550" y="33164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1550" y="406896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72275" y="25640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72275" y="33164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72275" y="406896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Problem: Fragmentation &amp; Cost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62025" y="771525"/>
            <a:ext cx="459057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 on Bharat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71525" y="7715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1525" y="2146994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9M+ Developers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are currently building in India, growing 20% YoY.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322123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1.5M+ CS Graduates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annually needing mentorship.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402133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Tier 2/3 Developers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lack access to senior guidance.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82143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2M+ Freelancers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need tools to boost output 3-5x.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2736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0737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8738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6000" y="9525"/>
            <a:ext cx="594647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421827" y="223837"/>
            <a:ext cx="36579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0712"/>
            <a:ext cx="3486150" cy="4006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90712"/>
            <a:ext cx="3486150" cy="4006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90712"/>
            <a:ext cx="3486150" cy="4006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1859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834038" y="3233737"/>
            <a:ext cx="98012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 IDE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3887092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complete replacement for VS Code. Built-in Terminal, Git, and Debugger. Supports 35+ languages with 14 premium themes.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1859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460920" y="3233737"/>
            <a:ext cx="12701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AI-Native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48200" y="3887092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Ghost completions, Smart Documentation (Option+Click), and Command Bar (⌘K). AI explains errors and fixes them with one click.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1859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697753" y="3233737"/>
            <a:ext cx="23402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Agentic Pipelines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20100" y="3887092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Autonomous agents that Research, Architect, Code, and QA your software. Like having a senior developer pair-programming with you.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38350" y="23860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3860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2150" y="23860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Solution: SupaDev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43251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1509117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298031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086945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875859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664773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0453687" y="424800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633662" y="1510605"/>
            <a:ext cx="6924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Key Differentiator: Autonomous software development flow.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71225" y="4743301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Research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30857" y="5105251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Finds best practices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160139" y="3299370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2219771" y="3661320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Designs structure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949053" y="4743301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Coder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008685" y="5105251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Writes actual code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37967" y="3299370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Verify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97599" y="3661320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Auto-build checks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526881" y="4743301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586513" y="5105251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Reviews quality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315796" y="3299370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75427" y="3661320"/>
            <a:ext cx="23852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Approve or Reject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6-Stage Agentic Pipeline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011584"/>
            <a:ext cx="5229225" cy="2739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011584"/>
            <a:ext cx="5229225" cy="2739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36665"/>
            <a:ext cx="5229225" cy="2739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036665"/>
            <a:ext cx="5229225" cy="273933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971550" y="1402109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Ghost Completions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971550" y="186496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71550" y="225549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Context-aware code suggestions that appear as you type. Simply press Tab to accept complex logic blocks instantly.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772275" y="1402109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⌘K Command Bar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6772275" y="186496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6772275" y="225549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Natural Language to Code. "Make this button blue and add a bounce animation" -&gt; SupaDev writes the CSS/SwiftUI code.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71550" y="442719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Error Fix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971550" y="489004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71550" y="528057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failed? Click the sparkle icon. SupaDev analyzes the compiler error and applies a one-click fix with a diff review.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772275" y="442719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Smart Docs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6772275" y="489004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772275" y="528057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Option+Click any function to see AI-generated documentation, parameter explanations, and usage examples instantly.</a:t>
            </a:r>
            <a:endParaRPr/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1421159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1421159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50" y="444624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72275" y="444624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771525" y="82004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Beyond Autocomplete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81025" y="82004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7048500" y="771525"/>
            <a:ext cx="459057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Professional-Grade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858000" y="7715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6858000" y="1720155"/>
            <a:ext cx="4533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 a toy. A full IDE supercharged with AI.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858000" y="2523976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Tree-sitter Syntax: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High-performance highlighting for 35+ languages.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858000" y="3371701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Git Integration: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 commit graph, blame with Gravatar, and hunk-level staging.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858000" y="4219426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LLDB Debugger: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Full breakpoint support, variable inspection, and debug console.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58000" y="5067151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Build &amp; Run: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One-click execution for Swift, Node, Python, Rust, and Go.</a:t>
            </a:r>
            <a:endParaRPr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71512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357485" y="357485"/>
            <a:ext cx="4037100" cy="40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025" lIns="123025" spcFirstLastPara="1" rIns="123025" wrap="square" tIns="123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605"/>
            <a:ext cx="5229225" cy="4766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10605"/>
            <a:ext cx="5229225" cy="47663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971550" y="190113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SupaDev IDE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971550" y="236398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71550" y="2735460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Native SwiftUI + AppKit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772275" y="1901130"/>
            <a:ext cx="467058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VaultBot Gateway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772275" y="236398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772275" y="2735460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Node.js + WebSocket (Localhost)</a:t>
            </a:r>
            <a:endParaRPr/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192018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1257300" y="3105001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Editor (Tree-sitter)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257300" y="3552676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Terminal &amp; Source Control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257300" y="4000351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 System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257300" y="4448026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Engine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19201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058025" y="3105001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Intelligent Router &amp; Agent Orchestrator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058025" y="3552676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Providers: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Claude, GPT-4, Gemini, Bedrock, Ollama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058025" y="4305151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All code stays local. No telemetry.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971550" y="310500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71550" y="355267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71550" y="400035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71550" y="444802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772275" y="310500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772275" y="355267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772275" y="430515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Privacy-First Architecture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0722"/>
            <a:ext cx="2543175" cy="4326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730722"/>
            <a:ext cx="2543175" cy="4326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730722"/>
            <a:ext cx="2543175" cy="4326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1730722"/>
            <a:ext cx="2543175" cy="4326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3987" y="202599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827484" y="3073747"/>
            <a:ext cx="2050256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Amazon Bedrock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76300" y="4047083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Multi-model AI access (Claude, Llama) for agent pipelines with intelligent routing.</a:t>
            </a:r>
            <a:endParaRPr/>
          </a:p>
        </p:txBody>
      </p:sp>
      <p:pic>
        <p:nvPicPr>
          <p:cNvPr descr="image.png" id="264" name="Google Shape;26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52912" y="202599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3786425" y="3073747"/>
            <a:ext cx="179022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AWS Lambda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3705225" y="3727102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Serverless agent execution. Scale pipelines on demand and pay only when agents run.</a:t>
            </a:r>
            <a:endParaRPr/>
          </a:p>
        </p:txBody>
      </p:sp>
      <p:pic>
        <p:nvPicPr>
          <p:cNvPr descr="image.png" id="267" name="Google Shape;26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81837" y="202599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6745366" y="3073747"/>
            <a:ext cx="153019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Amazon S3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534150" y="3727102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pipeline artifact storage, staging snapshots, and versioning backups.</a:t>
            </a:r>
            <a:endParaRPr/>
          </a:p>
        </p:txBody>
      </p:sp>
      <p:pic>
        <p:nvPicPr>
          <p:cNvPr descr="image.png" id="270" name="Google Shape;27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10762" y="202599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9444275" y="3073747"/>
            <a:ext cx="179022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CodePipeline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9363075" y="3727102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One-click deployment directly from the IDE to production environments.</a:t>
            </a:r>
            <a:endParaRPr/>
          </a:p>
        </p:txBody>
      </p:sp>
      <p:pic>
        <p:nvPicPr>
          <p:cNvPr descr="image.png" id="273" name="Google Shape;273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66862" y="222602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512" y="222602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10437" y="222602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10787" y="22260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Powered by AWS Cloud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57413"/>
            <a:ext cx="26098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1875" y="3357413"/>
            <a:ext cx="2425749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8624" y="3357413"/>
            <a:ext cx="2425749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5374" y="3357413"/>
            <a:ext cx="2425749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3771900" y="2515492"/>
            <a:ext cx="4648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Real, working software. Not just a concept.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971550" y="3747938"/>
            <a:ext cx="1828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50K+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971550" y="4605188"/>
            <a:ext cx="1828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Lines of Swift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3962400" y="3747938"/>
            <a:ext cx="16446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80+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3962400" y="4605188"/>
            <a:ext cx="16446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Files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769149" y="3747938"/>
            <a:ext cx="16446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35+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769149" y="4605188"/>
            <a:ext cx="16446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Languages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575899" y="3747938"/>
            <a:ext cx="16446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575899" y="4605188"/>
            <a:ext cx="16446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Themes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We've Built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3197"/>
            <a:ext cx="11029950" cy="2821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23"/>
          <p:cNvGraphicFramePr/>
          <p:nvPr/>
        </p:nvGraphicFramePr>
        <p:xfrm>
          <a:off x="590550" y="2492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{A885F783-D38C-49BA-A554-677BA61341A3}</a:tableStyleId>
              </a:tblPr>
              <a:tblGrid>
                <a:gridCol w="1707350"/>
                <a:gridCol w="2090450"/>
                <a:gridCol w="7213100"/>
              </a:tblGrid>
              <a:tr h="70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IDE, 50 AI queries/day, Community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₹800 </a:t>
                      </a: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Unlimited AI, Full Agentic Pipelines, Priority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₹2000 </a:t>
                      </a: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/user/mo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Shared Pipelines, Cloud Collaboration, One-click Cloud Deploy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23"/>
          <p:cNvSpPr/>
          <p:nvPr/>
        </p:nvSpPr>
        <p:spPr>
          <a:xfrm>
            <a:off x="590550" y="3204120"/>
            <a:ext cx="1707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2297906" y="3204120"/>
            <a:ext cx="2090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4388346" y="3204120"/>
            <a:ext cx="7213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590550" y="3899445"/>
            <a:ext cx="1707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2297906" y="3899445"/>
            <a:ext cx="2090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388346" y="3899445"/>
            <a:ext cx="7213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90550" y="4594770"/>
            <a:ext cx="1707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2297906" y="4594770"/>
            <a:ext cx="2090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4388346" y="4594770"/>
            <a:ext cx="7213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Model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74740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/>
          <p:nvPr/>
        </p:nvSpPr>
        <p:spPr>
          <a:xfrm>
            <a:off x="1509117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490739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472362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10453985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371225" y="4274790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Q1 2026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430857" y="4636740"/>
            <a:ext cx="238526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macOS Beta Release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10K Early Adopters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Plugin API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3352848" y="2457598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Q2 2026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3412480" y="2819548"/>
            <a:ext cx="238526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iOS Companion App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Linux Support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SourceKit-LSP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6334471" y="4274790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Q3 2026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6394102" y="4636740"/>
            <a:ext cx="238526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Team Features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Cloud Deploy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AWS Integration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9316093" y="2457598"/>
            <a:ext cx="2504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Q4 2026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9375725" y="2819548"/>
            <a:ext cx="238526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Enterprise Tier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On-Premise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Voice Coding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Roadmap 2026</a:t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3112"/>
            <a:ext cx="34861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43112"/>
            <a:ext cx="34861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43112"/>
            <a:ext cx="34861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338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448990" y="3386137"/>
            <a:ext cx="17502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 Source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876300" y="403949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Release core IDE as open source to build trust and a vibrant developer community.</a:t>
            </a:r>
            <a:endParaRPr/>
          </a:p>
        </p:txBody>
      </p:sp>
      <p:pic>
        <p:nvPicPr>
          <p:cNvPr descr="image.png" id="348" name="Google Shape;34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338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5360908" y="3386137"/>
            <a:ext cx="147018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Grassroots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4648200" y="403949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Target Indian dev meetups, college hackathons, and partner with 100+ coding bootcamps.</a:t>
            </a:r>
            <a:endParaRPr/>
          </a:p>
        </p:txBody>
      </p:sp>
      <p:pic>
        <p:nvPicPr>
          <p:cNvPr descr="image.png" id="351" name="Google Shape;35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338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9027795" y="3386137"/>
            <a:ext cx="168021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Marketplace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8420100" y="403949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List on AWS Marketplace for seamless enterprise adoption and billing integration.</a:t>
            </a:r>
            <a:endParaRPr/>
          </a:p>
        </p:txBody>
      </p:sp>
      <p:pic>
        <p:nvPicPr>
          <p:cNvPr descr="image.png" id="354" name="Google Shape;35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00262" y="2538412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21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Go-to-Market Strategy</a:t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 txBox="1"/>
          <p:nvPr/>
        </p:nvSpPr>
        <p:spPr>
          <a:xfrm>
            <a:off x="962025" y="2188071"/>
            <a:ext cx="1026795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"Make every developer in Bharat as productive as a 10x engineer — powered by AI agents that understand, build, and ship alongside you."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4533444" y="5200713"/>
            <a:ext cx="312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SupaDev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/>
          <p:nvPr/>
        </p:nvSpPr>
        <p:spPr>
          <a:xfrm>
            <a:off x="1023937" y="2329011"/>
            <a:ext cx="101441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1023937" y="3113782"/>
            <a:ext cx="101441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1023937" y="3898552"/>
            <a:ext cx="101441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1023937" y="3104257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1023937" y="3104257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1023937" y="3889027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1023937" y="3889027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1023937" y="4673798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1023937" y="4673798"/>
            <a:ext cx="10144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0" name="Google Shape;3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" y="24784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2119312" y="2471886"/>
            <a:ext cx="9048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https://images.stockcake.com/public/f/7/0/f7075d35-cf06-4380-9094-9a8d80d5d946_large/digital-india-map-stockcake.jpg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2119312" y="2717601"/>
            <a:ext cx="904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83" name="Google Shape;3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937" y="3263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2119312" y="3256657"/>
            <a:ext cx="9048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https://images.stockcake.com/public/6/2/5/62597fb8-ae9a-400d-a6c5-daa7a5bac0f8_large/neon-hacker-stockcake.jpg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2119312" y="3502372"/>
            <a:ext cx="904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86" name="Google Shape;38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937" y="4047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7"/>
          <p:cNvSpPr txBox="1"/>
          <p:nvPr/>
        </p:nvSpPr>
        <p:spPr>
          <a:xfrm>
            <a:off x="2119312" y="4041427"/>
            <a:ext cx="9048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https://images.stockcake.com/public/6/3/9/639b1338-0841-44c1-83da-02e5bd836340_large/neon-dashboard-interface-stockcake.jpg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2119312" y="4287142"/>
            <a:ext cx="904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89" name="Google Shape;38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937" y="4832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7"/>
          <p:cNvSpPr txBox="1"/>
          <p:nvPr/>
        </p:nvSpPr>
        <p:spPr>
          <a:xfrm>
            <a:off x="2119312" y="4826198"/>
            <a:ext cx="9048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https://static.vecteezy.com/system/resources/thumbnails/052/635/224/small_2x/neon-spaceship-taking-off-from-earth-on-black-background-vector.jpg</a:t>
            </a:r>
            <a:endParaRPr/>
          </a:p>
        </p:txBody>
      </p:sp>
      <p:sp>
        <p:nvSpPr>
          <p:cNvPr id="391" name="Google Shape;391;p27"/>
          <p:cNvSpPr txBox="1"/>
          <p:nvPr/>
        </p:nvSpPr>
        <p:spPr>
          <a:xfrm>
            <a:off x="2119312" y="5071913"/>
            <a:ext cx="904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771525" y="581025"/>
            <a:ext cx="1138142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>
            <a:off x="581025" y="581025"/>
            <a:ext cx="47625" cy="5485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